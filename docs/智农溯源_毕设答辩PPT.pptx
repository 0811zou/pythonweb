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e9f21c08ed48d1" /><Relationship Type="http://schemas.openxmlformats.org/officeDocument/2006/relationships/extended-properties" Target="/docProps/app.xml" Id="R6a3587f827a441fa" /><Relationship Type="http://schemas.openxmlformats.org/officeDocument/2006/relationships/officeDocument" Target="/ppt/presentation.xml" Id="R8b42b79de14e40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8cc0e0ba184d64"/>
  </p:sldMasterIdLst>
  <p:notesMasterIdLst>
    <p:notesMasterId xmlns:r="http://schemas.openxmlformats.org/officeDocument/2006/relationships" r:id="R4f79429a30884ce8"/>
  </p:notesMasterIdLst>
  <p:sldIdLst>
    <p:sldId xmlns:r="http://schemas.openxmlformats.org/officeDocument/2006/relationships" id="256" r:id="R89c6d0e89cc84f55"/>
    <p:sldId xmlns:r="http://schemas.openxmlformats.org/officeDocument/2006/relationships" id="257" r:id="R0285919c7dcb4490"/>
    <p:sldId xmlns:r="http://schemas.openxmlformats.org/officeDocument/2006/relationships" id="258" r:id="Rc0605dde8b8e4bdc"/>
    <p:sldId xmlns:r="http://schemas.openxmlformats.org/officeDocument/2006/relationships" id="259" r:id="Rcc0c90a5da6a41e3"/>
    <p:sldId xmlns:r="http://schemas.openxmlformats.org/officeDocument/2006/relationships" id="260" r:id="Raa25fe837ff44849"/>
    <p:sldId xmlns:r="http://schemas.openxmlformats.org/officeDocument/2006/relationships" id="261" r:id="Rbeea9d4825bc44b8"/>
    <p:sldId xmlns:r="http://schemas.openxmlformats.org/officeDocument/2006/relationships" id="262" r:id="R2546f49e9d5c40c1"/>
    <p:sldId xmlns:r="http://schemas.openxmlformats.org/officeDocument/2006/relationships" id="263" r:id="R07eeb5e753354273"/>
    <p:sldId xmlns:r="http://schemas.openxmlformats.org/officeDocument/2006/relationships" id="264" r:id="Re1116b6ccb554510"/>
    <p:sldId xmlns:r="http://schemas.openxmlformats.org/officeDocument/2006/relationships" id="265" r:id="R7e2b05f2b3c843ee"/>
    <p:sldId xmlns:r="http://schemas.openxmlformats.org/officeDocument/2006/relationships" id="266" r:id="Re15bf26075d64d40"/>
    <p:sldId xmlns:r="http://schemas.openxmlformats.org/officeDocument/2006/relationships" id="267" r:id="Ra0c167c1434044bf"/>
    <p:sldId xmlns:r="http://schemas.openxmlformats.org/officeDocument/2006/relationships" id="268" r:id="R9ecba1af7dcb4517"/>
    <p:sldId xmlns:r="http://schemas.openxmlformats.org/officeDocument/2006/relationships" id="269" r:id="Rec52e2b293234a7d"/>
    <p:sldId xmlns:r="http://schemas.openxmlformats.org/officeDocument/2006/relationships" id="270" r:id="R428ba92f543e48de"/>
    <p:sldId xmlns:r="http://schemas.openxmlformats.org/officeDocument/2006/relationships" id="271" r:id="Re00710fabc1d49a5"/>
    <p:sldId xmlns:r="http://schemas.openxmlformats.org/officeDocument/2006/relationships" id="272" r:id="R180e19b9d2bc4f33"/>
    <p:sldId xmlns:r="http://schemas.openxmlformats.org/officeDocument/2006/relationships" id="273" r:id="Rd593fd9bfe744ce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98bf45d8774919" /><Relationship Type="http://schemas.openxmlformats.org/officeDocument/2006/relationships/slideMaster" Target="/ppt/slideMasters/slideMaster1.xml" Id="R1b8cc0e0ba184d64" /><Relationship Type="http://schemas.openxmlformats.org/officeDocument/2006/relationships/notesMaster" Target="/ppt/notesMasters/notesMaster1.xml" Id="R4f79429a30884ce8" /><Relationship Type="http://schemas.openxmlformats.org/officeDocument/2006/relationships/presProps" Target="/ppt/presProps.xml" Id="Reb93aa51c2614baa" /><Relationship Type="http://schemas.openxmlformats.org/officeDocument/2006/relationships/tableStyles" Target="/ppt/tableStyles.xml" Id="R5e00446ff73d412d" /><Relationship Type="http://schemas.openxmlformats.org/officeDocument/2006/relationships/slide" Target="/ppt/slides/slide1.xml" Id="R89c6d0e89cc84f55" /><Relationship Type="http://schemas.openxmlformats.org/officeDocument/2006/relationships/slide" Target="/ppt/slides/slide2.xml" Id="R0285919c7dcb4490" /><Relationship Type="http://schemas.openxmlformats.org/officeDocument/2006/relationships/slide" Target="/ppt/slides/slide3.xml" Id="Rc0605dde8b8e4bdc" /><Relationship Type="http://schemas.openxmlformats.org/officeDocument/2006/relationships/slide" Target="/ppt/slides/slide4.xml" Id="Rcc0c90a5da6a41e3" /><Relationship Type="http://schemas.openxmlformats.org/officeDocument/2006/relationships/slide" Target="/ppt/slides/slide5.xml" Id="Raa25fe837ff44849" /><Relationship Type="http://schemas.openxmlformats.org/officeDocument/2006/relationships/slide" Target="/ppt/slides/slide6.xml" Id="Rbeea9d4825bc44b8" /><Relationship Type="http://schemas.openxmlformats.org/officeDocument/2006/relationships/slide" Target="/ppt/slides/slide7.xml" Id="R2546f49e9d5c40c1" /><Relationship Type="http://schemas.openxmlformats.org/officeDocument/2006/relationships/slide" Target="/ppt/slides/slide8.xml" Id="R07eeb5e753354273" /><Relationship Type="http://schemas.openxmlformats.org/officeDocument/2006/relationships/slide" Target="/ppt/slides/slide9.xml" Id="Re1116b6ccb554510" /><Relationship Type="http://schemas.openxmlformats.org/officeDocument/2006/relationships/slide" Target="/ppt/slides/slide10.xml" Id="R7e2b05f2b3c843ee" /><Relationship Type="http://schemas.openxmlformats.org/officeDocument/2006/relationships/slide" Target="/ppt/slides/slide11.xml" Id="Re15bf26075d64d40" /><Relationship Type="http://schemas.openxmlformats.org/officeDocument/2006/relationships/slide" Target="/ppt/slides/slide12.xml" Id="Ra0c167c1434044bf" /><Relationship Type="http://schemas.openxmlformats.org/officeDocument/2006/relationships/slide" Target="/ppt/slides/slide13.xml" Id="R9ecba1af7dcb4517" /><Relationship Type="http://schemas.openxmlformats.org/officeDocument/2006/relationships/slide" Target="/ppt/slides/slide14.xml" Id="Rec52e2b293234a7d" /><Relationship Type="http://schemas.openxmlformats.org/officeDocument/2006/relationships/slide" Target="/ppt/slides/slide15.xml" Id="R428ba92f543e48de" /><Relationship Type="http://schemas.openxmlformats.org/officeDocument/2006/relationships/slide" Target="/ppt/slides/slide16.xml" Id="Re00710fabc1d49a5" /><Relationship Type="http://schemas.openxmlformats.org/officeDocument/2006/relationships/slide" Target="/ppt/slides/slide17.xml" Id="R180e19b9d2bc4f33" /><Relationship Type="http://schemas.openxmlformats.org/officeDocument/2006/relationships/slide" Target="/ppt/slides/slide18.xml" Id="Rd593fd9bfe744c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09067ba73741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63b37ebea341b9" /><Relationship Type="http://schemas.openxmlformats.org/officeDocument/2006/relationships/notesMaster" Target="/ppt/notesMasters/notesMaster1.xml" Id="R797ab94cadd441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d211beda46494d" /><Relationship Type="http://schemas.openxmlformats.org/officeDocument/2006/relationships/notesMaster" Target="/ppt/notesMasters/notesMaster1.xml" Id="R4d280f5b060e4d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325cf7914c4e3e" /><Relationship Type="http://schemas.openxmlformats.org/officeDocument/2006/relationships/notesMaster" Target="/ppt/notesMasters/notesMaster1.xml" Id="R0a1f94b710a647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6f0c0374ae46d8" /><Relationship Type="http://schemas.openxmlformats.org/officeDocument/2006/relationships/notesMaster" Target="/ppt/notesMasters/notesMaster1.xml" Id="Raac4ff80fda441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695097121e4933" /><Relationship Type="http://schemas.openxmlformats.org/officeDocument/2006/relationships/notesMaster" Target="/ppt/notesMasters/notesMaster1.xml" Id="Ra1e784be0b6640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ec8992e8684f3e" /><Relationship Type="http://schemas.openxmlformats.org/officeDocument/2006/relationships/notesMaster" Target="/ppt/notesMasters/notesMaster1.xml" Id="R11cff972a40c4a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93f7ce98c04d5c" /><Relationship Type="http://schemas.openxmlformats.org/officeDocument/2006/relationships/notesMaster" Target="/ppt/notesMasters/notesMaster1.xml" Id="R292a05acbc0c43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f760d7d81340f9" /><Relationship Type="http://schemas.openxmlformats.org/officeDocument/2006/relationships/notesMaster" Target="/ppt/notesMasters/notesMaster1.xml" Id="R10e6484c341b47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6cfa36f0334612" /><Relationship Type="http://schemas.openxmlformats.org/officeDocument/2006/relationships/notesMaster" Target="/ppt/notesMasters/notesMaster1.xml" Id="R19207ae8e9d74d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b577b7a03849e8" /><Relationship Type="http://schemas.openxmlformats.org/officeDocument/2006/relationships/notesMaster" Target="/ppt/notesMasters/notesMaster1.xml" Id="R4c5488d305c940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95031d258e44d2" /><Relationship Type="http://schemas.openxmlformats.org/officeDocument/2006/relationships/notesMaster" Target="/ppt/notesMasters/notesMaster1.xml" Id="R1fd674631f0243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affdfb4bde4018" /><Relationship Type="http://schemas.openxmlformats.org/officeDocument/2006/relationships/notesMaster" Target="/ppt/notesMasters/notesMaster1.xml" Id="R9b484322be474e7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27a86c15214c19" /><Relationship Type="http://schemas.openxmlformats.org/officeDocument/2006/relationships/notesMaster" Target="/ppt/notesMasters/notesMaster1.xml" Id="Rdd88123a9dfc49d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ffb351b7f5644c7" /><Relationship Type="http://schemas.openxmlformats.org/officeDocument/2006/relationships/notesMaster" Target="/ppt/notesMasters/notesMaster1.xml" Id="R7cf917fa177449c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437fd0618c24668" /><Relationship Type="http://schemas.openxmlformats.org/officeDocument/2006/relationships/notesMaster" Target="/ppt/notesMasters/notesMaster1.xml" Id="Rc4aab545bed54a5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528275c25ad46d9" /><Relationship Type="http://schemas.openxmlformats.org/officeDocument/2006/relationships/notesMaster" Target="/ppt/notesMasters/notesMaster1.xml" Id="R5d8cb37781fd4de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cea6edd46194fe2" /><Relationship Type="http://schemas.openxmlformats.org/officeDocument/2006/relationships/notesMaster" Target="/ppt/notesMasters/notesMaster1.xml" Id="Rc3503200b64e431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4d7b99c26654b96" /><Relationship Type="http://schemas.openxmlformats.org/officeDocument/2006/relationships/notesMaster" Target="/ppt/notesMasters/notesMaster1.xml" Id="R25f9dccd6b5a4f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开场说明：本课题针对农产品来源不透明、农户销售渠道有限和助农服务数字化不足的问题，设计并实现一个综合性 Web 平台。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这一页快速说明汇报结构，不展开细节，控制在 20 秒以内。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强调课题不是普通电商，而是围绕农产品信任和助农服务展开。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用三类角色解释需求，可以自然过渡到功能模块设计。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技术路线页重点说清为什么选 Django：自带 ORM、认证和后台，适合管理型 Web 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说明架构从浏览器进入，经过路由和视图，最终通过 ORM 访问数据；二维码、AI 和 API 文档是增强能力。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这一页对应代码目录，证明项目不是单文件堆叠，而是按业务拆分维护。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功能模块页不要逐项解释，重点抓住主流程和助农扩展功能。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 ER 图时突出两条主链：用户-农户-产品-批次-溯源事件，以及用户-订单-订单项-批次。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表格页用于补充 ER 图，讲重点表即可，不需要逐字段展开。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这里讲代码中的 ProductBatch 和 TraceEvent，不要说成已经上区块链，只说具备防篡改设计基础。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订单流程页说明支付是线下凭证模拟，符合毕设实现范围；重点强调订单项绑定批次。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模块只强调能力和降级设计，不主动说具体模型版本。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后台管理页体现系统不是只有前台页面，还有审核和运营能力。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测试页要说明不是只展示页面，也验证了后台状态变化和接口权限。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演示时控制在 2 到 3 分钟，重点页面提前打开，减少现场等待。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创新点不要夸大，重点说设计融合和落地能力。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结尾先总结已完成内容，再说不足和展望，最后进入 Q&amp;A。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fe69a991a946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a31fbe51bd4dc3" /><Relationship Type="http://schemas.openxmlformats.org/officeDocument/2006/relationships/slideLayout" Target="/ppt/slideLayouts/slideLayout1.xml" Id="R3ac1acc1bfa644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c1acc1bfa644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868078cf6440b" /><Relationship Type="http://schemas.openxmlformats.org/officeDocument/2006/relationships/notesSlide" Target="/ppt/notesSlides/notesSlide1.xml" Id="R65b21e5e84e44a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d0b37d1104b48" /><Relationship Type="http://schemas.openxmlformats.org/officeDocument/2006/relationships/notesSlide" Target="/ppt/notesSlides/notesSlide2.xml" Id="Rea77b1428d504c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9c15b1d064b84" /><Relationship Type="http://schemas.openxmlformats.org/officeDocument/2006/relationships/notesSlide" Target="/ppt/notesSlides/notesSlide3.xml" Id="R04f9d4749b474f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417931a64422b" /><Relationship Type="http://schemas.openxmlformats.org/officeDocument/2006/relationships/notesSlide" Target="/ppt/notesSlides/notesSlide4.xml" Id="R3fe94d491b1a49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e26e130d345ce" /><Relationship Type="http://schemas.openxmlformats.org/officeDocument/2006/relationships/notesSlide" Target="/ppt/notesSlides/notesSlide5.xml" Id="R3d84a10f8a5741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14fbcf35748da" /><Relationship Type="http://schemas.openxmlformats.org/officeDocument/2006/relationships/notesSlide" Target="/ppt/notesSlides/notesSlide6.xml" Id="R5fc26d7916c54e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375efa1724373" /><Relationship Type="http://schemas.openxmlformats.org/officeDocument/2006/relationships/notesSlide" Target="/ppt/notesSlides/notesSlide7.xml" Id="R81ae8f0e323044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1d68d05084b19" /><Relationship Type="http://schemas.openxmlformats.org/officeDocument/2006/relationships/notesSlide" Target="/ppt/notesSlides/notesSlide8.xml" Id="Rc95bbd882f5a44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786f6d480445a" /><Relationship Type="http://schemas.openxmlformats.org/officeDocument/2006/relationships/notesSlide" Target="/ppt/notesSlides/notesSlide9.xml" Id="R1f45dc97073845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97285782a4a75" /><Relationship Type="http://schemas.openxmlformats.org/officeDocument/2006/relationships/notesSlide" Target="/ppt/notesSlides/notesSlide10.xml" Id="R4e77495e22b343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35ea604114c36" /><Relationship Type="http://schemas.openxmlformats.org/officeDocument/2006/relationships/notesSlide" Target="/ppt/notesSlides/notesSlide11.xml" Id="Re2b87cc41fcb418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85d07d420410f" /><Relationship Type="http://schemas.openxmlformats.org/officeDocument/2006/relationships/notesSlide" Target="/ppt/notesSlides/notesSlide12.xml" Id="R853d30ea76314da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5992257fc4c70" /><Relationship Type="http://schemas.openxmlformats.org/officeDocument/2006/relationships/notesSlide" Target="/ppt/notesSlides/notesSlide13.xml" Id="Rdd57643d4cc8473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81ed64a6c40f5" /><Relationship Type="http://schemas.openxmlformats.org/officeDocument/2006/relationships/notesSlide" Target="/ppt/notesSlides/notesSlide14.xml" Id="R398f23c9a881410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1058a0f814829" /><Relationship Type="http://schemas.openxmlformats.org/officeDocument/2006/relationships/notesSlide" Target="/ppt/notesSlides/notesSlide15.xml" Id="Re2ac143e6349418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ef6cb7f13442f" /><Relationship Type="http://schemas.openxmlformats.org/officeDocument/2006/relationships/notesSlide" Target="/ppt/notesSlides/notesSlide16.xml" Id="R2f90a1ffc0d2415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181caadf843d1" /><Relationship Type="http://schemas.openxmlformats.org/officeDocument/2006/relationships/notesSlide" Target="/ppt/notesSlides/notesSlide17.xml" Id="Re12a09bcbd9449a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eab65abbb424b" /><Relationship Type="http://schemas.openxmlformats.org/officeDocument/2006/relationships/notesSlide" Target="/ppt/notesSlides/notesSlide18.xml" Id="R75af1f79eb8a4e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6F58824B-FB53-4FA5-8DBE-AB9DB592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基于 Django 与大模型的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C3DDC52-4515-40B6-84DA-325A24C5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农产品溯源与智能助农平台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A492C237-A95F-4595-B4ED-43AA1834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704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7B85D31D-6D91-4904-A5D1-192728DF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14750"/>
            <a:ext cx="12192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5" name="cover-type">
            <a:extLst xmlns:a="http://schemas.openxmlformats.org/drawingml/2006/main">
              <a:ext uri="{FF2B5EF4-FFF2-40B4-BE49-F238E27FC236}">
                <a16:creationId xmlns:a16="http://schemas.microsoft.com/office/drawing/2014/main" id="{FC17826D-A6B4-41C5-AF92-E8720724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434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毕业设计答辩</a:t>
            </a:r>
          </a:p>
        </p:txBody>
      </p:sp>
      <p:sp>
        <p:nvSpPr>
          <p:cNvPr id="6" name="cover-stack">
            <a:extLst xmlns:a="http://schemas.openxmlformats.org/drawingml/2006/main">
              <a:ext uri="{FF2B5EF4-FFF2-40B4-BE49-F238E27FC236}">
                <a16:creationId xmlns:a16="http://schemas.microsoft.com/office/drawing/2014/main" id="{A742687D-ADE7-480C-8547-9185B636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05375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Django 5.2 / DRF / Bootstrap / ECharts / 本地大模型（Ollama）</a:t>
            </a:r>
          </a:p>
        </p:txBody>
      </p:sp>
      <p:sp>
        <p:nvSpPr>
          <p:cNvPr id="7" name="cover-meta">
            <a:extLst xmlns:a="http://schemas.openxmlformats.org/drawingml/2006/main">
              <a:ext uri="{FF2B5EF4-FFF2-40B4-BE49-F238E27FC236}">
                <a16:creationId xmlns:a16="http://schemas.microsoft.com/office/drawing/2014/main" id="{94292BD8-5157-4BAD-A002-45A202CC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5245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答辩人：__________    指导教师：__________    日期：__________</a:t>
            </a:r>
          </a:p>
        </p:txBody>
      </p:sp>
      <p:sp>
        <p:nvSpPr>
          <p:cNvPr id="8" name="cover-page">
            <a:extLst xmlns:a="http://schemas.openxmlformats.org/drawingml/2006/main">
              <a:ext uri="{FF2B5EF4-FFF2-40B4-BE49-F238E27FC236}">
                <a16:creationId xmlns:a16="http://schemas.microsoft.com/office/drawing/2014/main" id="{4A76CF88-29B8-479F-A27D-1882365D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578435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04C113-6A9E-4315-890D-CDC2C45E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汇报提纲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6FAB5AC-7E97-4579-8ABF-32893780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按问题、设计、实现、验证、总结的答辩逻辑展开</a:t>
            </a:r>
          </a:p>
        </p:txBody>
      </p:sp>
      <p:sp>
        <p:nvSpPr>
          <p:cNvPr id="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05D75B2-C23C-4CED-BC78-50146306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智农溯源 毕设答辩</a:t>
            </a:r>
          </a:p>
        </p:txBody>
      </p:sp>
      <p:sp>
        <p:nvSpPr>
          <p:cNvPr id="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40E23B5-DA3C-46DA-97E5-F7A99937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bullet-list">
            <a:extLst xmlns:a="http://schemas.openxmlformats.org/drawingml/2006/main">
              <a:ext uri="{FF2B5EF4-FFF2-40B4-BE49-F238E27FC236}">
                <a16:creationId xmlns:a16="http://schemas.microsoft.com/office/drawing/2014/main" id="{1F3C71CA-6A31-4381-83C0-4AA5EDA3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00200"/>
            <a:ext cx="5334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2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• 研究背景与课题目标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2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• 需求分析与技术路线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2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• 系统架构与程序结构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2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• 数据库 ER 设计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2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• 核心功能实现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2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• 系统测试与演示路线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2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• 创新点、总结与展望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49F3FAED-7938-4971-8987-593E9BAE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42481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5B5CE-7E94-44C3-B8AD-5C7E990F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答辩重点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26BFB-4ACD-4616-BC1E-537A49DD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3276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让老师看到：系统真实可运行、数据库关系清楚、核心流程闭环、技术实现有亮点。</a:t>
            </a:r>
          </a:p>
        </p:txBody>
      </p:sp>
    </p:spTree>
    <p:extLst>
      <p:ext uri="{BB962C8B-B14F-4D97-AF65-F5344CB8AC3E}">
        <p14:creationId xmlns:p14="http://schemas.microsoft.com/office/powerpoint/2010/main" val="15355904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21E447-BA99-47A7-9A8D-1983E269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研究背景与问题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09B3708-E8C7-4A8C-B0C6-2E95770A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传统农产品流通链条中，信任、渠道和数据能力是主要痛点</a:t>
            </a:r>
          </a:p>
        </p:txBody>
      </p:sp>
      <p:sp>
        <p:nvSpPr>
          <p:cNvPr id="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70516D89-F671-4CDE-B1B6-B861EEF7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智农溯源 毕设答辩</a:t>
            </a:r>
          </a:p>
        </p:txBody>
      </p:sp>
      <p:sp>
        <p:nvSpPr>
          <p:cNvPr id="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C1F01AB-FCFE-4E9F-AB48-40505FDC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02FF409B-9CD7-4973-8881-A35009A9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4861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6" name="card-mark">
            <a:extLst xmlns:a="http://schemas.openxmlformats.org/drawingml/2006/main">
              <a:ext uri="{FF2B5EF4-FFF2-40B4-BE49-F238E27FC236}">
                <a16:creationId xmlns:a16="http://schemas.microsoft.com/office/drawing/2014/main" id="{548763C2-51A7-46B6-9525-38053BDE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rd-heading">
            <a:extLst xmlns:a="http://schemas.openxmlformats.org/drawingml/2006/main">
              <a:ext uri="{FF2B5EF4-FFF2-40B4-BE49-F238E27FC236}">
                <a16:creationId xmlns:a16="http://schemas.microsoft.com/office/drawing/2014/main" id="{6504CD14-C927-460B-8203-B25800B8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来源信息不透明</a:t>
            </a:r>
          </a:p>
        </p:txBody>
      </p:sp>
      <p:sp>
        <p:nvSpPr>
          <p:cNvPr id="8" name="card-body">
            <a:extLst xmlns:a="http://schemas.openxmlformats.org/drawingml/2006/main">
              <a:ext uri="{FF2B5EF4-FFF2-40B4-BE49-F238E27FC236}">
                <a16:creationId xmlns:a16="http://schemas.microsoft.com/office/drawing/2014/main" id="{8F6A1893-B3B7-4C91-8CB7-EC64E78D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43175"/>
            <a:ext cx="2762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消费者难以获取产地、采收、质检和流转信息，影响购买信任。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41C2E1C4-C7BF-4FAE-B558-E6A6CC19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952625"/>
            <a:ext cx="34861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card-mark">
            <a:extLst xmlns:a="http://schemas.openxmlformats.org/drawingml/2006/main">
              <a:ext uri="{FF2B5EF4-FFF2-40B4-BE49-F238E27FC236}">
                <a16:creationId xmlns:a16="http://schemas.microsoft.com/office/drawing/2014/main" id="{906D48B1-8B07-4D90-8258-6FA35292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002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rd-heading">
            <a:extLst xmlns:a="http://schemas.openxmlformats.org/drawingml/2006/main">
              <a:ext uri="{FF2B5EF4-FFF2-40B4-BE49-F238E27FC236}">
                <a16:creationId xmlns:a16="http://schemas.microsoft.com/office/drawing/2014/main" id="{5591F73F-A1DC-496B-A87E-0F356F69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1431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农户渠道有限</a:t>
            </a:r>
          </a:p>
        </p:txBody>
      </p:sp>
      <p:sp>
        <p:nvSpPr>
          <p:cNvPr id="12" name="card-body">
            <a:extLst xmlns:a="http://schemas.openxmlformats.org/drawingml/2006/main">
              <a:ext uri="{FF2B5EF4-FFF2-40B4-BE49-F238E27FC236}">
                <a16:creationId xmlns:a16="http://schemas.microsoft.com/office/drawing/2014/main" id="{829EDF5B-7898-49AB-ADCA-9805F50C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543175"/>
            <a:ext cx="2762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中小农户缺少稳定线上展示和交易渠道，销售依赖中间环节。</a:t>
            </a:r>
          </a:p>
        </p:txBody>
      </p:sp>
      <p:sp>
        <p:nvSpPr>
          <p:cNvPr id="13" name="panel">
            <a:extLst xmlns:a="http://schemas.openxmlformats.org/drawingml/2006/main">
              <a:ext uri="{FF2B5EF4-FFF2-40B4-BE49-F238E27FC236}">
                <a16:creationId xmlns:a16="http://schemas.microsoft.com/office/drawing/2014/main" id="{7C1BA104-B0D7-497A-B3AF-2B16E420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52625"/>
            <a:ext cx="34861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4" name="card-mark">
            <a:extLst xmlns:a="http://schemas.openxmlformats.org/drawingml/2006/main">
              <a:ext uri="{FF2B5EF4-FFF2-40B4-BE49-F238E27FC236}">
                <a16:creationId xmlns:a16="http://schemas.microsoft.com/office/drawing/2014/main" id="{006F9A47-B62F-4528-9547-58AC1003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002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d-heading">
            <a:extLst xmlns:a="http://schemas.openxmlformats.org/drawingml/2006/main">
              <a:ext uri="{FF2B5EF4-FFF2-40B4-BE49-F238E27FC236}">
                <a16:creationId xmlns:a16="http://schemas.microsoft.com/office/drawing/2014/main" id="{45E745D5-5F15-45E5-A886-AC758B0B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431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助农服务分散</a:t>
            </a:r>
          </a:p>
        </p:txBody>
      </p:sp>
      <p:sp>
        <p:nvSpPr>
          <p:cNvPr id="16" name="card-body">
            <a:extLst xmlns:a="http://schemas.openxmlformats.org/drawingml/2006/main">
              <a:ext uri="{FF2B5EF4-FFF2-40B4-BE49-F238E27FC236}">
                <a16:creationId xmlns:a16="http://schemas.microsoft.com/office/drawing/2014/main" id="{AA64F8F8-1CA2-4F6F-A2DF-B061566A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43175"/>
            <a:ext cx="2762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补贴、培训、供需对接和市场判断缺少统一入口，数字化程度不足。</a:t>
            </a:r>
          </a:p>
        </p:txBody>
      </p:sp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0D819EFE-CDEB-41B4-B5F8-521A0665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11391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409107-2B0A-4551-8C77-7E9AA016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课题定位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046C51-F343-455C-A8F2-52A6D9EA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24375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建设一个连接农户、消费者和管理员的可信溯源与助农服务平台，用低成本 Web 技术完成产品发布、交易、溯源、供需和智能分析闭环。</a:t>
            </a:r>
          </a:p>
        </p:txBody>
      </p:sp>
    </p:spTree>
    <p:extLst>
      <p:ext uri="{BB962C8B-B14F-4D97-AF65-F5344CB8AC3E}">
        <p14:creationId xmlns:p14="http://schemas.microsoft.com/office/powerpoint/2010/main" val="6215688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63EF27-8047-4365-A402-50D30B9E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系统目标与角色需求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446A042-AE92-4C63-A681-23C68EBE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围绕消费者、农户和管理员三类角色建立业务闭环</a:t>
            </a:r>
          </a:p>
        </p:txBody>
      </p:sp>
      <p:sp>
        <p:nvSpPr>
          <p:cNvPr id="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4C25E171-452D-4719-8C83-60854988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智农溯源 毕设答辩</a:t>
            </a:r>
          </a:p>
        </p:txBody>
      </p:sp>
      <p:sp>
        <p:nvSpPr>
          <p:cNvPr id="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79E53EA-2FCC-40FC-B045-8DE3FF6C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58904ABB-D3EB-4B4F-8226-13C41AB9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429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6" name="card-mark">
            <a:extLst xmlns:a="http://schemas.openxmlformats.org/drawingml/2006/main">
              <a:ext uri="{FF2B5EF4-FFF2-40B4-BE49-F238E27FC236}">
                <a16:creationId xmlns:a16="http://schemas.microsoft.com/office/drawing/2014/main" id="{DC74D3AD-3050-434A-906B-13CAB0DC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rd-heading">
            <a:extLst xmlns:a="http://schemas.openxmlformats.org/drawingml/2006/main">
              <a:ext uri="{FF2B5EF4-FFF2-40B4-BE49-F238E27FC236}">
                <a16:creationId xmlns:a16="http://schemas.microsoft.com/office/drawing/2014/main" id="{94D5A836-C0CA-4212-B2EF-55C36370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消费者</a:t>
            </a:r>
          </a:p>
        </p:txBody>
      </p:sp>
      <p:sp>
        <p:nvSpPr>
          <p:cNvPr id="8" name="card-body">
            <a:extLst xmlns:a="http://schemas.openxmlformats.org/drawingml/2006/main">
              <a:ext uri="{FF2B5EF4-FFF2-40B4-BE49-F238E27FC236}">
                <a16:creationId xmlns:a16="http://schemas.microsoft.com/office/drawing/2014/main" id="{E05AF816-3E4F-4A6B-B73F-805A2837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7051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浏览产品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扫码溯源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加入购物车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下单支付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评价反馈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566FED98-DDE3-4ECA-B200-A253069F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3429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card-mark">
            <a:extLst xmlns:a="http://schemas.openxmlformats.org/drawingml/2006/main">
              <a:ext uri="{FF2B5EF4-FFF2-40B4-BE49-F238E27FC236}">
                <a16:creationId xmlns:a16="http://schemas.microsoft.com/office/drawing/2014/main" id="{7FC967D6-B470-4074-A34A-DF2FB3AB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574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rd-heading">
            <a:extLst xmlns:a="http://schemas.openxmlformats.org/drawingml/2006/main">
              <a:ext uri="{FF2B5EF4-FFF2-40B4-BE49-F238E27FC236}">
                <a16:creationId xmlns:a16="http://schemas.microsoft.com/office/drawing/2014/main" id="{877D9E7D-6D29-454A-8128-9BAA6081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002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农户</a:t>
            </a:r>
          </a:p>
        </p:txBody>
      </p:sp>
      <p:sp>
        <p:nvSpPr>
          <p:cNvPr id="12" name="card-body">
            <a:extLst xmlns:a="http://schemas.openxmlformats.org/drawingml/2006/main">
              <a:ext uri="{FF2B5EF4-FFF2-40B4-BE49-F238E27FC236}">
                <a16:creationId xmlns:a16="http://schemas.microsoft.com/office/drawing/2014/main" id="{6C204AE0-51EA-489C-92A6-8351CEF9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00300"/>
            <a:ext cx="27051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维护店铺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发布产品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创建批次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下载二维码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处理订单和补贴</a:t>
            </a:r>
          </a:p>
        </p:txBody>
      </p:sp>
      <p:sp>
        <p:nvSpPr>
          <p:cNvPr id="13" name="panel">
            <a:extLst xmlns:a="http://schemas.openxmlformats.org/drawingml/2006/main">
              <a:ext uri="{FF2B5EF4-FFF2-40B4-BE49-F238E27FC236}">
                <a16:creationId xmlns:a16="http://schemas.microsoft.com/office/drawing/2014/main" id="{C62D5A18-384A-4666-96BA-C8E1E315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3429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4" name="card-mark">
            <a:extLst xmlns:a="http://schemas.openxmlformats.org/drawingml/2006/main">
              <a:ext uri="{FF2B5EF4-FFF2-40B4-BE49-F238E27FC236}">
                <a16:creationId xmlns:a16="http://schemas.microsoft.com/office/drawing/2014/main" id="{B9A903D5-3155-45DE-9799-A094DD4F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574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d-heading">
            <a:extLst xmlns:a="http://schemas.openxmlformats.org/drawingml/2006/main">
              <a:ext uri="{FF2B5EF4-FFF2-40B4-BE49-F238E27FC236}">
                <a16:creationId xmlns:a16="http://schemas.microsoft.com/office/drawing/2014/main" id="{748F95DC-AB93-4407-A391-43848126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002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</p:txBody>
      </p:sp>
      <p:sp>
        <p:nvSpPr>
          <p:cNvPr id="16" name="card-body">
            <a:extLst xmlns:a="http://schemas.openxmlformats.org/drawingml/2006/main">
              <a:ext uri="{FF2B5EF4-FFF2-40B4-BE49-F238E27FC236}">
                <a16:creationId xmlns:a16="http://schemas.microsoft.com/office/drawing/2014/main" id="{2257B1B0-9CD5-4904-8502-811CC5AE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00300"/>
            <a:ext cx="27051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审核产品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审核批次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管理用户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处理入驻申请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导出业务数据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645E1E-3E6D-461D-A398-DCA04748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目标：让交易数据、批次数据和助农服务在一个平台内贯通。</a:t>
            </a:r>
          </a:p>
        </p:txBody>
      </p:sp>
    </p:spTree>
    <p:extLst>
      <p:ext uri="{BB962C8B-B14F-4D97-AF65-F5344CB8AC3E}">
        <p14:creationId xmlns:p14="http://schemas.microsoft.com/office/powerpoint/2010/main" val="6234751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7D410D-BAD8-4FE1-905F-EC5B2CA9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技术路线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91764E1-BBFC-4138-A00A-8D77EAB8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采用成熟 Python Web 技术栈，兼顾开发效率、扩展性和部署便利性</a:t>
            </a:r>
          </a:p>
        </p:txBody>
      </p:sp>
      <p:sp>
        <p:nvSpPr>
          <p:cNvPr id="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BCC70EA6-F4B8-48A9-9945-5E3CB84E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智农溯源 毕设答辩</a:t>
            </a:r>
          </a:p>
        </p:txBody>
      </p:sp>
      <p:sp>
        <p:nvSpPr>
          <p:cNvPr id="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03BCEC2-3A34-4898-B3C8-CE245C5A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23900" y="1619250"/>
          <a:ext xmlns:a="http://schemas.openxmlformats.org/drawingml/2006/main" cx="10744200" cy="3667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28750"/>
                <a:gridCol w="3429000"/>
                <a:gridCol w="5886450"/>
              </a:tblGrid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Django 5.2 + DRF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业务处理、ORM、认证、REST API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Django Templates + Bootstrap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响应式页面、表单和后台界面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SQLite / PostgreSQL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开发和生产环境数据持久化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溯源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qrcode + 链式结构记录机制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批次二维码与防篡改设计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本地大模型（Ollama）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市场简报和农业问答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Docker + Gunicorn + WhiteNoise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容器化部署和静态资源服务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B5B49-615A-431F-A70E-780D939E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答辩建议：AI 只讲“本地大模型能力”，不要主动暴露具体模型版本。</a:t>
            </a:r>
          </a:p>
        </p:txBody>
      </p:sp>
    </p:spTree>
    <p:extLst>
      <p:ext uri="{BB962C8B-B14F-4D97-AF65-F5344CB8AC3E}">
        <p14:creationId xmlns:p14="http://schemas.microsoft.com/office/powerpoint/2010/main" val="11108092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7D7588-BBDD-452D-AF4A-9246CB59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系统总体架构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4B7B435-4F13-4DE4-80BF-1F8F8608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B/S 架构：页面访问、业务处理、数据持久化和外部能力集成</a:t>
            </a:r>
          </a:p>
        </p:txBody>
      </p:sp>
      <p:sp>
        <p:nvSpPr>
          <p:cNvPr id="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71865EF5-D2D8-4BE6-A2F9-F6C2093D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智农溯源 毕设答辩</a:t>
            </a:r>
          </a:p>
        </p:txBody>
      </p:sp>
      <p:sp>
        <p:nvSpPr>
          <p:cNvPr id="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BBC5075-9F61-4F0C-9819-C996C5E8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node-浏览器&#10;消费者 / 农户 / 管理员">
            <a:extLst xmlns:a="http://schemas.openxmlformats.org/drawingml/2006/main">
              <a:ext uri="{FF2B5EF4-FFF2-40B4-BE49-F238E27FC236}">
                <a16:creationId xmlns:a16="http://schemas.microsoft.com/office/drawing/2014/main" id="{EF2BC96A-51FF-4F93-B7CD-0150B195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浏览器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消费者 / 农户 / 管理员</a:t>
            </a:r>
          </a:p>
        </p:txBody>
      </p:sp>
      <p:sp>
        <p:nvSpPr>
          <p:cNvPr id="6" name="node-路由层&#10;config.urls / app urls">
            <a:extLst xmlns:a="http://schemas.openxmlformats.org/drawingml/2006/main">
              <a:ext uri="{FF2B5EF4-FFF2-40B4-BE49-F238E27FC236}">
                <a16:creationId xmlns:a16="http://schemas.microsoft.com/office/drawing/2014/main" id="{99AEFBE0-B654-4C65-B8B5-8BC7B0D5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47875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路由层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config.urls / app urls</a:t>
            </a:r>
          </a:p>
        </p:txBody>
      </p:sp>
      <p:sp>
        <p:nvSpPr>
          <p:cNvPr id="7" name="node-业务层&#10;Views / DRF ViewSets">
            <a:extLst xmlns:a="http://schemas.openxmlformats.org/drawingml/2006/main">
              <a:ext uri="{FF2B5EF4-FFF2-40B4-BE49-F238E27FC236}">
                <a16:creationId xmlns:a16="http://schemas.microsoft.com/office/drawing/2014/main" id="{8D7E80D2-4E10-4716-8612-22F5EC2D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业务层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Views / DRF ViewSets</a:t>
            </a:r>
          </a:p>
        </p:txBody>
      </p:sp>
      <p:sp>
        <p:nvSpPr>
          <p:cNvPr id="8" name="node-模型层&#10;Django ORM">
            <a:extLst xmlns:a="http://schemas.openxmlformats.org/drawingml/2006/main">
              <a:ext uri="{FF2B5EF4-FFF2-40B4-BE49-F238E27FC236}">
                <a16:creationId xmlns:a16="http://schemas.microsoft.com/office/drawing/2014/main" id="{71CAA32F-D53D-45A4-9A70-B2947E27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47875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模型层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Django ORM</a:t>
            </a:r>
          </a:p>
        </p:txBody>
      </p: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57500" y="24860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715000" y="24860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72500" y="24860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sp>
        <p:nvSpPr>
          <p:cNvPr id="12" name="node-数据库&#10;SQLite / PostgreSQL">
            <a:extLst xmlns:a="http://schemas.openxmlformats.org/drawingml/2006/main">
              <a:ext uri="{FF2B5EF4-FFF2-40B4-BE49-F238E27FC236}">
                <a16:creationId xmlns:a16="http://schemas.microsoft.com/office/drawing/2014/main" id="{3A67FC0A-0EA0-4938-B0C5-4BC7CC3E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0050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SQLite / PostgreSQL</a:t>
            </a:r>
          </a:p>
        </p:txBody>
      </p:sp>
      <p:sp>
        <p:nvSpPr>
          <p:cNvPr id="13" name="node-媒体文件&#10;产品图 / 二维码">
            <a:extLst xmlns:a="http://schemas.openxmlformats.org/drawingml/2006/main">
              <a:ext uri="{FF2B5EF4-FFF2-40B4-BE49-F238E27FC236}">
                <a16:creationId xmlns:a16="http://schemas.microsoft.com/office/drawing/2014/main" id="{DE2EFAC2-0766-4EC6-84FB-B4F4A10C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媒体文件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产品图 / 二维码</a:t>
            </a:r>
          </a:p>
        </p:txBody>
      </p:sp>
      <p:sp>
        <p:nvSpPr>
          <p:cNvPr id="14" name="node-智能分析&#10;本地大模型 / 规则降级">
            <a:extLst xmlns:a="http://schemas.openxmlformats.org/drawingml/2006/main">
              <a:ext uri="{FF2B5EF4-FFF2-40B4-BE49-F238E27FC236}">
                <a16:creationId xmlns:a16="http://schemas.microsoft.com/office/drawing/2014/main" id="{D521230E-2922-47CA-A1F6-45B188E8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0050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智能分析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本地大模型 / 规则降级</a:t>
            </a:r>
          </a:p>
        </p:txBody>
      </p:sp>
      <p:sp>
        <p:nvSpPr>
          <p:cNvPr id="15" name="node-API 文档&#10;Swagger / OpenAPI">
            <a:extLst xmlns:a="http://schemas.openxmlformats.org/drawingml/2006/main">
              <a:ext uri="{FF2B5EF4-FFF2-40B4-BE49-F238E27FC236}">
                <a16:creationId xmlns:a16="http://schemas.microsoft.com/office/drawing/2014/main" id="{928E604F-6CAA-4D7E-B616-BAC20E2E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API 文档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Swagger / OpenAPI</a:t>
            </a:r>
          </a:p>
        </p:txBody>
      </p:sp>
      <p:cxnSp>
        <p:nvCxnSpPr>
          <p:cNvPr id="35" name=""/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0334625" y="2924175"/>
            <a:ext cx="0" cy="1076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36" name=""/>
          <p:cNvCxnSpPr>
            <a:stCxn xmlns:a="http://schemas.openxmlformats.org/drawingml/2006/main" id="7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7477125" y="2924175"/>
            <a:ext cx="0" cy="1076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7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4619625" y="2924175"/>
            <a:ext cx="2857500" cy="1076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38" name=""/>
          <p:cNvCxnSpPr>
            <a:stCxn xmlns:a="http://schemas.openxmlformats.org/drawingml/2006/main" id="6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1762125" y="2924175"/>
            <a:ext cx="2857500" cy="1076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3063079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7B0537-5079-4A99-A142-0A56E0FB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程序结构图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9B56AA7-CEF8-46B3-93F2-37E9464E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按 Django App 拆分业务，核心模块边界清晰</a:t>
            </a:r>
          </a:p>
        </p:txBody>
      </p:sp>
      <p:sp>
        <p:nvSpPr>
          <p:cNvPr id="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A2814641-77B7-41FD-921F-6E9B448E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智农溯源 毕设答辩</a:t>
            </a:r>
          </a:p>
        </p:txBody>
      </p:sp>
      <p:sp>
        <p:nvSpPr>
          <p:cNvPr id="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F2C3ABB-469D-4CC2-B5D6-B4B43CA6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node-pythonweb 项目根目录">
            <a:extLst xmlns:a="http://schemas.openxmlformats.org/drawingml/2006/main">
              <a:ext uri="{FF2B5EF4-FFF2-40B4-BE49-F238E27FC236}">
                <a16:creationId xmlns:a16="http://schemas.microsoft.com/office/drawing/2014/main" id="{7429C65C-E6FD-4EC9-A211-5BFB88B1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859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pythonweb 项目根目录</a:t>
            </a:r>
          </a:p>
        </p:txBody>
      </p:sp>
      <p:sp>
        <p:nvSpPr>
          <p:cNvPr id="6" name="node-config&#10;配置与总路由">
            <a:extLst xmlns:a="http://schemas.openxmlformats.org/drawingml/2006/main">
              <a:ext uri="{FF2B5EF4-FFF2-40B4-BE49-F238E27FC236}">
                <a16:creationId xmlns:a16="http://schemas.microsoft.com/office/drawing/2014/main" id="{DAB2FCC6-173A-4624-A66F-CD869E72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config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配置与总路由</a:t>
            </a:r>
          </a:p>
        </p:txBody>
      </p:sp>
      <p:sp>
        <p:nvSpPr>
          <p:cNvPr id="7" name="node-accounts&#10;登录与农户档案">
            <a:extLst xmlns:a="http://schemas.openxmlformats.org/drawingml/2006/main">
              <a:ext uri="{FF2B5EF4-FFF2-40B4-BE49-F238E27FC236}">
                <a16:creationId xmlns:a16="http://schemas.microsoft.com/office/drawing/2014/main" id="{B9FA9CDB-8E9C-4F46-9312-E91FD845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19375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accounts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登录与农户档案</a:t>
            </a:r>
          </a:p>
        </p:txBody>
      </p:sp>
      <p:sp>
        <p:nvSpPr>
          <p:cNvPr id="8" name="node-products&#10;产品/批次/评价">
            <a:extLst xmlns:a="http://schemas.openxmlformats.org/drawingml/2006/main">
              <a:ext uri="{FF2B5EF4-FFF2-40B4-BE49-F238E27FC236}">
                <a16:creationId xmlns:a16="http://schemas.microsoft.com/office/drawing/2014/main" id="{D9F4968D-BFD0-402C-8DA2-986157D6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19375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products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产品/批次/评价</a:t>
            </a:r>
          </a:p>
        </p:txBody>
      </p:sp>
      <p:sp>
        <p:nvSpPr>
          <p:cNvPr id="9" name="node-trade&#10;购物车/订单/物流">
            <a:extLst xmlns:a="http://schemas.openxmlformats.org/drawingml/2006/main">
              <a:ext uri="{FF2B5EF4-FFF2-40B4-BE49-F238E27FC236}">
                <a16:creationId xmlns:a16="http://schemas.microsoft.com/office/drawing/2014/main" id="{F4AE3D9A-F341-4012-87F6-15E3A0EA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trade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购物车/订单/物流</a:t>
            </a:r>
          </a:p>
        </p:txBody>
      </p:sp>
      <p:sp>
        <p:nvSpPr>
          <p:cNvPr id="10" name="node-traceability&#10;溯源事件">
            <a:extLst xmlns:a="http://schemas.openxmlformats.org/drawingml/2006/main">
              <a:ext uri="{FF2B5EF4-FFF2-40B4-BE49-F238E27FC236}">
                <a16:creationId xmlns:a16="http://schemas.microsoft.com/office/drawing/2014/main" id="{4CB64AC6-BB80-4784-A460-6C9205D3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19375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traceability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溯源事件</a:t>
            </a:r>
          </a:p>
        </p:txBody>
      </p:sp>
      <p:sp>
        <p:nvSpPr>
          <p:cNvPr id="11" name="node-marketplace&#10;供需对接">
            <a:extLst xmlns:a="http://schemas.openxmlformats.org/drawingml/2006/main">
              <a:ext uri="{FF2B5EF4-FFF2-40B4-BE49-F238E27FC236}">
                <a16:creationId xmlns:a16="http://schemas.microsoft.com/office/drawing/2014/main" id="{EE6B98EC-E29E-40A5-A4E2-B2231431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marketplace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供需对接</a:t>
            </a:r>
          </a:p>
        </p:txBody>
      </p:sp>
      <p:sp>
        <p:nvSpPr>
          <p:cNvPr id="12" name="node-knowledge&#10;农技知识库">
            <a:extLst xmlns:a="http://schemas.openxmlformats.org/drawingml/2006/main">
              <a:ext uri="{FF2B5EF4-FFF2-40B4-BE49-F238E27FC236}">
                <a16:creationId xmlns:a16="http://schemas.microsoft.com/office/drawing/2014/main" id="{A1C333BA-75AA-46C2-89EE-4BC77BE4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95750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knowledge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农技知识库</a:t>
            </a:r>
          </a:p>
        </p:txBody>
      </p:sp>
      <p:sp>
        <p:nvSpPr>
          <p:cNvPr id="13" name="node-preorder&#10;预售认养">
            <a:extLst xmlns:a="http://schemas.openxmlformats.org/drawingml/2006/main">
              <a:ext uri="{FF2B5EF4-FFF2-40B4-BE49-F238E27FC236}">
                <a16:creationId xmlns:a16="http://schemas.microsoft.com/office/drawing/2014/main" id="{2D314647-2C1C-4271-9594-5FEB2615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95750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preorder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预售认养</a:t>
            </a:r>
          </a:p>
        </p:txBody>
      </p:sp>
      <p:sp>
        <p:nvSpPr>
          <p:cNvPr id="14" name="node-analysis&#10;市场分析/AI">
            <a:extLst xmlns:a="http://schemas.openxmlformats.org/drawingml/2006/main">
              <a:ext uri="{FF2B5EF4-FFF2-40B4-BE49-F238E27FC236}">
                <a16:creationId xmlns:a16="http://schemas.microsoft.com/office/drawing/2014/main" id="{AF54C852-2EF2-4DD4-B0E1-3F211BB8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95750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analysis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市场分析/AI</a:t>
            </a:r>
          </a:p>
        </p:txBody>
      </p:sp>
      <p:sp>
        <p:nvSpPr>
          <p:cNvPr id="15" name="node-admin_panel&#10;后台审核管理">
            <a:extLst xmlns:a="http://schemas.openxmlformats.org/drawingml/2006/main">
              <a:ext uri="{FF2B5EF4-FFF2-40B4-BE49-F238E27FC236}">
                <a16:creationId xmlns:a16="http://schemas.microsoft.com/office/drawing/2014/main" id="{02E1DB1B-FD26-4D3F-B70A-4C4C980B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95750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admin_panel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后台审核管理</a:t>
            </a:r>
          </a:p>
        </p:txBody>
      </p:sp>
      <p:cxnSp>
        <p:nvCxnSpPr>
          <p:cNvPr id="43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1524000" y="2038350"/>
            <a:ext cx="4572000" cy="5810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44" name="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3810000" y="2038350"/>
            <a:ext cx="2286000" cy="5810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45" name="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2038350"/>
            <a:ext cx="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46" name=""/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96000" y="2038350"/>
            <a:ext cx="2286000" cy="5810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47" name=""/>
          <p:cNvCxnSpPr>
            <a:stCxn xmlns:a="http://schemas.openxmlformats.org/drawingml/2006/main" id="5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2038350"/>
            <a:ext cx="4572000" cy="5810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48" name=""/>
          <p:cNvCxnSpPr>
            <a:stCxn xmlns:a="http://schemas.openxmlformats.org/drawingml/2006/main" id="5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1524000" y="2038350"/>
            <a:ext cx="4572000" cy="2057400"/>
          </a:xfrm>
          <a:prstGeom xmlns:a="http://schemas.openxmlformats.org/drawingml/2006/main" prst="bentConnector4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49" name=""/>
          <p:cNvCxnSpPr>
            <a:stCxn xmlns:a="http://schemas.openxmlformats.org/drawingml/2006/main" id="5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3810000" y="2038350"/>
            <a:ext cx="2286000" cy="2057400"/>
          </a:xfrm>
          <a:prstGeom xmlns:a="http://schemas.openxmlformats.org/drawingml/2006/main" prst="bentConnector4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50" name=""/>
          <p:cNvCxnSpPr>
            <a:stCxn xmlns:a="http://schemas.openxmlformats.org/drawingml/2006/main" id="5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096000" y="2038350"/>
            <a:ext cx="1066800" cy="2057400"/>
          </a:xfrm>
          <a:prstGeom xmlns:a="http://schemas.openxmlformats.org/drawingml/2006/main" prst="bentConnector4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51" name=""/>
          <p:cNvCxnSpPr>
            <a:stCxn xmlns:a="http://schemas.openxmlformats.org/drawingml/2006/main" id="5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096000" y="2038350"/>
            <a:ext cx="2286000" cy="2057400"/>
          </a:xfrm>
          <a:prstGeom xmlns:a="http://schemas.openxmlformats.org/drawingml/2006/main" prst="bentConnector4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52" name=""/>
          <p:cNvCxnSpPr>
            <a:stCxn xmlns:a="http://schemas.openxmlformats.org/drawingml/2006/main" id="5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6096000" y="2038350"/>
            <a:ext cx="4572000" cy="2057400"/>
          </a:xfrm>
          <a:prstGeom xmlns:a="http://schemas.openxmlformats.org/drawingml/2006/main" prst="bentConnector4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26" name="panel">
            <a:extLst xmlns:a="http://schemas.openxmlformats.org/drawingml/2006/main">
              <a:ext uri="{FF2B5EF4-FFF2-40B4-BE49-F238E27FC236}">
                <a16:creationId xmlns:a16="http://schemas.microsoft.com/office/drawing/2014/main" id="{A32ADE15-E9D6-4CCD-9472-74FF75FF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1AA3EC-8C51-414C-9E8C-ABC45475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8165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templates 负责页面模板，core/static 负责静态资源，deploy / scripts 负责部署与初始化脚本。</a:t>
            </a:r>
          </a:p>
        </p:txBody>
      </p:sp>
    </p:spTree>
    <p:extLst>
      <p:ext uri="{BB962C8B-B14F-4D97-AF65-F5344CB8AC3E}">
        <p14:creationId xmlns:p14="http://schemas.microsoft.com/office/powerpoint/2010/main" val="19852139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657137-9B3B-4A01-8ECF-F5A14D8C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功能模块结构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4FD3DAC-CA31-44D0-939A-DEC82C74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平台以“可信溯源 + 交易闭环 + 助农服务”为主线</a:t>
            </a:r>
          </a:p>
        </p:txBody>
      </p:sp>
      <p:sp>
        <p:nvSpPr>
          <p:cNvPr id="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A4403E4B-F215-473D-A91B-5701C647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智农溯源 毕设答辩</a:t>
            </a:r>
          </a:p>
        </p:txBody>
      </p:sp>
      <p:sp>
        <p:nvSpPr>
          <p:cNvPr id="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F963DFF-CC6F-4F89-8BB6-87926BF0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node-农产品溯源与&#10;智能助农平台">
            <a:extLst xmlns:a="http://schemas.openxmlformats.org/drawingml/2006/main">
              <a:ext uri="{FF2B5EF4-FFF2-40B4-BE49-F238E27FC236}">
                <a16:creationId xmlns:a16="http://schemas.microsoft.com/office/drawing/2014/main" id="{E114078C-3CB9-4871-A304-B5962207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81300"/>
            <a:ext cx="2667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农产品溯源与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智能助农平台</a:t>
            </a:r>
          </a:p>
        </p:txBody>
      </p:sp>
      <p:sp>
        <p:nvSpPr>
          <p:cNvPr id="6" name="node-用户与权限">
            <a:extLst xmlns:a="http://schemas.openxmlformats.org/drawingml/2006/main">
              <a:ext uri="{FF2B5EF4-FFF2-40B4-BE49-F238E27FC236}">
                <a16:creationId xmlns:a16="http://schemas.microsoft.com/office/drawing/2014/main" id="{DE284178-A7F0-4ACA-B9BE-1C072C6B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200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用户与权限</a:t>
            </a:r>
          </a:p>
        </p:txBody>
      </p:sp>
      <p:cxnSp>
        <p:nvCxnSpPr>
          <p:cNvPr id="29" name=""/>
          <p:cNvCxnSpPr>
            <a:stCxn xmlns:a="http://schemas.openxmlformats.org/drawingml/2006/main" id="5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2781300" y="2105025"/>
            <a:ext cx="1981200" cy="1133475"/>
          </a:xfrm>
          <a:prstGeom xmlns:a="http://schemas.openxmlformats.org/drawingml/2006/main" prst="bentConnector3">
            <a:avLst>
              <a:gd name="adj1" fmla="val 88462"/>
            </a:avLst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sp>
        <p:nvSpPr>
          <p:cNvPr id="8" name="node-产品管理">
            <a:extLst xmlns:a="http://schemas.openxmlformats.org/drawingml/2006/main">
              <a:ext uri="{FF2B5EF4-FFF2-40B4-BE49-F238E27FC236}">
                <a16:creationId xmlns:a16="http://schemas.microsoft.com/office/drawing/2014/main" id="{11E33B9D-7E53-4C29-91B0-BCAC89E2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62125"/>
            <a:ext cx="200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产品管理</a:t>
            </a:r>
          </a:p>
        </p:txBody>
      </p:sp>
      <p:cxnSp>
        <p:nvCxnSpPr>
          <p:cNvPr id="31" name=""/>
          <p:cNvCxnSpPr>
            <a:stCxn xmlns:a="http://schemas.openxmlformats.org/drawingml/2006/main" id="5" idx="1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 flipV="1">
            <a:off x="4429125" y="2447925"/>
            <a:ext cx="333375" cy="790575"/>
          </a:xfrm>
          <a:prstGeom xmlns:a="http://schemas.openxmlformats.org/drawingml/2006/main" prst="bentConnector2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sp>
        <p:nvSpPr>
          <p:cNvPr id="10" name="node-批次溯源">
            <a:extLst xmlns:a="http://schemas.openxmlformats.org/drawingml/2006/main">
              <a:ext uri="{FF2B5EF4-FFF2-40B4-BE49-F238E27FC236}">
                <a16:creationId xmlns:a16="http://schemas.microsoft.com/office/drawing/2014/main" id="{4A69F73A-81EF-478D-BB76-2E47F27E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62125"/>
            <a:ext cx="200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批次溯源</a:t>
            </a:r>
          </a:p>
        </p:txBody>
      </p:sp>
      <p:cxnSp>
        <p:nvCxnSpPr>
          <p:cNvPr id="33" name=""/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429500" y="2105025"/>
            <a:ext cx="552450" cy="1133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sp>
        <p:nvSpPr>
          <p:cNvPr id="12" name="node-交易订单">
            <a:extLst xmlns:a="http://schemas.openxmlformats.org/drawingml/2006/main">
              <a:ext uri="{FF2B5EF4-FFF2-40B4-BE49-F238E27FC236}">
                <a16:creationId xmlns:a16="http://schemas.microsoft.com/office/drawing/2014/main" id="{D11A29A3-A5D3-423B-9A71-83BBCEC9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00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交易订单</a:t>
            </a:r>
          </a:p>
        </p:txBody>
      </p:sp>
      <p:cxnSp>
        <p:nvCxnSpPr>
          <p:cNvPr id="35" name=""/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7429500" y="2105025"/>
            <a:ext cx="1143000" cy="1133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sp>
        <p:nvSpPr>
          <p:cNvPr id="14" name="node-补贴申请">
            <a:extLst xmlns:a="http://schemas.openxmlformats.org/drawingml/2006/main">
              <a:ext uri="{FF2B5EF4-FFF2-40B4-BE49-F238E27FC236}">
                <a16:creationId xmlns:a16="http://schemas.microsoft.com/office/drawing/2014/main" id="{E3641752-FE0A-4CD0-9972-E55E6711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200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补贴申请</a:t>
            </a:r>
          </a:p>
        </p:txBody>
      </p:sp>
      <p:cxnSp>
        <p:nvCxnSpPr>
          <p:cNvPr id="37" name=""/>
          <p:cNvCxnSpPr>
            <a:stCxn xmlns:a="http://schemas.openxmlformats.org/drawingml/2006/main" id="5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2781300" y="3238500"/>
            <a:ext cx="1981200" cy="1581150"/>
          </a:xfrm>
          <a:prstGeom xmlns:a="http://schemas.openxmlformats.org/drawingml/2006/main" prst="bentConnector3">
            <a:avLst>
              <a:gd name="adj1" fmla="val 88462"/>
            </a:avLst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sp>
        <p:nvSpPr>
          <p:cNvPr id="16" name="node-供需/预售">
            <a:extLst xmlns:a="http://schemas.openxmlformats.org/drawingml/2006/main">
              <a:ext uri="{FF2B5EF4-FFF2-40B4-BE49-F238E27FC236}">
                <a16:creationId xmlns:a16="http://schemas.microsoft.com/office/drawing/2014/main" id="{272CB04A-5AB1-40AA-8F90-FF36751B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76750"/>
            <a:ext cx="200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供需/预售</a:t>
            </a:r>
          </a:p>
        </p:txBody>
      </p:sp>
      <p:cxnSp>
        <p:nvCxnSpPr>
          <p:cNvPr id="39" name=""/>
          <p:cNvCxnSpPr>
            <a:stCxn xmlns:a="http://schemas.openxmlformats.org/drawingml/2006/main" id="5" idx="1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4429125" y="3238500"/>
            <a:ext cx="333375" cy="1238250"/>
          </a:xfrm>
          <a:prstGeom xmlns:a="http://schemas.openxmlformats.org/drawingml/2006/main" prst="bentConnector2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sp>
        <p:nvSpPr>
          <p:cNvPr id="18" name="node-农技知识">
            <a:extLst xmlns:a="http://schemas.openxmlformats.org/drawingml/2006/main">
              <a:ext uri="{FF2B5EF4-FFF2-40B4-BE49-F238E27FC236}">
                <a16:creationId xmlns:a16="http://schemas.microsoft.com/office/drawing/2014/main" id="{1A5FACA0-8B5A-4D96-A511-6841ADDF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76750"/>
            <a:ext cx="200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农技知识</a:t>
            </a:r>
          </a:p>
        </p:txBody>
      </p:sp>
      <p:cxnSp>
        <p:nvCxnSpPr>
          <p:cNvPr id="41" name=""/>
          <p:cNvCxnSpPr>
            <a:stCxn xmlns:a="http://schemas.openxmlformats.org/drawingml/2006/main" id="5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6096000" y="3695700"/>
            <a:ext cx="981075" cy="781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sp>
        <p:nvSpPr>
          <p:cNvPr id="20" name="node-数据分析">
            <a:extLst xmlns:a="http://schemas.openxmlformats.org/drawingml/2006/main">
              <a:ext uri="{FF2B5EF4-FFF2-40B4-BE49-F238E27FC236}">
                <a16:creationId xmlns:a16="http://schemas.microsoft.com/office/drawing/2014/main" id="{59E3BB8F-8326-4F86-9C36-BC828E77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76750"/>
            <a:ext cx="200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数据分析</a:t>
            </a:r>
          </a:p>
        </p:txBody>
      </p:sp>
      <p:cxnSp>
        <p:nvCxnSpPr>
          <p:cNvPr id="43" name=""/>
          <p:cNvCxnSpPr>
            <a:stCxn xmlns:a="http://schemas.openxmlformats.org/drawingml/2006/main" id="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429500" y="3238500"/>
            <a:ext cx="1295400" cy="1581150"/>
          </a:xfrm>
          <a:prstGeom xmlns:a="http://schemas.openxmlformats.org/drawingml/2006/main" prst="bentConnector3">
            <a:avLst>
              <a:gd name="adj1" fmla="val 82353"/>
            </a:avLst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D807B9-9BE3-4D50-B991-6DF7BAC7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10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核心演示：产品发布 → 批次审核 → 二维码溯源 → 下单交易 → 农户处理 → 评价反馈。</a:t>
            </a:r>
          </a:p>
        </p:txBody>
      </p:sp>
    </p:spTree>
    <p:extLst>
      <p:ext uri="{BB962C8B-B14F-4D97-AF65-F5344CB8AC3E}">
        <p14:creationId xmlns:p14="http://schemas.microsoft.com/office/powerpoint/2010/main" val="15457558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79AB69-AF6A-4F84-915E-7FD6BCCF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数据库 E-R 图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4FFB497-7554-45D3-9F05-41661A3D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核心关系：用户、农户、产品、批次、溯源事件和订单</a:t>
            </a:r>
          </a:p>
        </p:txBody>
      </p:sp>
      <p:sp>
        <p:nvSpPr>
          <p:cNvPr id="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F070480-8434-4127-8CC4-AE74D12E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智农溯源 毕设答辩</a:t>
            </a:r>
          </a:p>
        </p:txBody>
      </p:sp>
      <p:sp>
        <p:nvSpPr>
          <p:cNvPr id="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7C93579-D333-441F-BAA7-FD43ACDB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node-User&#10;用户">
            <a:extLst xmlns:a="http://schemas.openxmlformats.org/drawingml/2006/main">
              <a:ext uri="{FF2B5EF4-FFF2-40B4-BE49-F238E27FC236}">
                <a16:creationId xmlns:a16="http://schemas.microsoft.com/office/drawing/2014/main" id="{9EBC3CB1-B166-4577-82FF-1AE1C776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3811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User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</p:txBody>
      </p:sp>
      <p:sp>
        <p:nvSpPr>
          <p:cNvPr id="6" name="node-FarmerProfile&#10;农户档案">
            <a:extLst xmlns:a="http://schemas.openxmlformats.org/drawingml/2006/main">
              <a:ext uri="{FF2B5EF4-FFF2-40B4-BE49-F238E27FC236}">
                <a16:creationId xmlns:a16="http://schemas.microsoft.com/office/drawing/2014/main" id="{5D1DE0F1-B72D-4F5A-B064-B01DFB13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190750"/>
            <a:ext cx="180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FarmerProfile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农户档案</a:t>
            </a:r>
          </a:p>
        </p:txBody>
      </p:sp>
      <p:sp>
        <p:nvSpPr>
          <p:cNvPr id="7" name="node-Product&#10;农产品">
            <a:extLst xmlns:a="http://schemas.openxmlformats.org/drawingml/2006/main">
              <a:ext uri="{FF2B5EF4-FFF2-40B4-BE49-F238E27FC236}">
                <a16:creationId xmlns:a16="http://schemas.microsoft.com/office/drawing/2014/main" id="{99357AE8-8067-41E0-B1F5-CAD33EF8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190750"/>
            <a:ext cx="1619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Product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农产品</a:t>
            </a:r>
          </a:p>
        </p:txBody>
      </p:sp>
      <p:sp>
        <p:nvSpPr>
          <p:cNvPr id="8" name="node-ProductBatch&#10;产品批次">
            <a:extLst xmlns:a="http://schemas.openxmlformats.org/drawingml/2006/main">
              <a:ext uri="{FF2B5EF4-FFF2-40B4-BE49-F238E27FC236}">
                <a16:creationId xmlns:a16="http://schemas.microsoft.com/office/drawing/2014/main" id="{F1E9DF6A-9DA2-480A-B537-61A044B2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90750"/>
            <a:ext cx="180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ProductBatch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产品批次</a:t>
            </a:r>
          </a:p>
        </p:txBody>
      </p:sp>
      <p:sp>
        <p:nvSpPr>
          <p:cNvPr id="9" name="node-TraceEvent&#10;溯源事件">
            <a:extLst xmlns:a="http://schemas.openxmlformats.org/drawingml/2006/main">
              <a:ext uri="{FF2B5EF4-FFF2-40B4-BE49-F238E27FC236}">
                <a16:creationId xmlns:a16="http://schemas.microsoft.com/office/drawing/2014/main" id="{653BCF1A-6900-43CF-9152-363888BA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90750"/>
            <a:ext cx="1619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TraceEvent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溯源事件</a:t>
            </a:r>
          </a:p>
        </p:txBody>
      </p:sp>
      <p:sp>
        <p:nvSpPr>
          <p:cNvPr id="10" name="node-Order&#10;订单">
            <a:extLst xmlns:a="http://schemas.openxmlformats.org/drawingml/2006/main">
              <a:ext uri="{FF2B5EF4-FFF2-40B4-BE49-F238E27FC236}">
                <a16:creationId xmlns:a16="http://schemas.microsoft.com/office/drawing/2014/main" id="{D77B9AAB-797B-4E19-8A90-59FD8BF6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81500"/>
            <a:ext cx="13811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Order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订单</a:t>
            </a:r>
          </a:p>
        </p:txBody>
      </p:sp>
      <p:sp>
        <p:nvSpPr>
          <p:cNvPr id="11" name="node-OrderItem&#10;订单项">
            <a:extLst xmlns:a="http://schemas.openxmlformats.org/drawingml/2006/main">
              <a:ext uri="{FF2B5EF4-FFF2-40B4-BE49-F238E27FC236}">
                <a16:creationId xmlns:a16="http://schemas.microsoft.com/office/drawing/2014/main" id="{F2C6D326-BAC9-4E9D-AC4C-6F4A37C2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381500"/>
            <a:ext cx="1619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OrderItem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订单项</a:t>
            </a:r>
          </a:p>
        </p:txBody>
      </p:sp>
      <p:sp>
        <p:nvSpPr>
          <p:cNvPr id="12" name="node-Review&#10;评价">
            <a:extLst xmlns:a="http://schemas.openxmlformats.org/drawingml/2006/main">
              <a:ext uri="{FF2B5EF4-FFF2-40B4-BE49-F238E27FC236}">
                <a16:creationId xmlns:a16="http://schemas.microsoft.com/office/drawing/2014/main" id="{04FD3420-A512-4BE9-B250-4805DC2A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81500"/>
            <a:ext cx="13811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Review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评价</a:t>
            </a:r>
          </a:p>
        </p:txBody>
      </p:sp>
      <p:cxnSp>
        <p:nvCxnSpPr>
          <p:cNvPr id="3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47875" y="25336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524375" y="25336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810375" y="25336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86875" y="25336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3" name=""/>
          <p:cNvCxnSpPr>
            <a:stCxn xmlns:a="http://schemas.openxmlformats.org/drawingml/2006/main" id="5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357313" y="2876550"/>
            <a:ext cx="2381250" cy="1504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29125" y="47244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5" name=""/>
          <p:cNvCxnSpPr>
            <a:stCxn xmlns:a="http://schemas.openxmlformats.org/drawingml/2006/main" id="11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6286500" y="2876550"/>
            <a:ext cx="2095500" cy="1504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6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429125" y="4267200"/>
            <a:ext cx="3476625" cy="4572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7" name=""/>
          <p:cNvCxnSpPr>
            <a:stCxn xmlns:a="http://schemas.openxmlformats.org/drawingml/2006/main" id="12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6000750" y="2876550"/>
            <a:ext cx="2595563" cy="1504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76F1CC-0E62-40EB-AC57-E0FCDE70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526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1:1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E18A5F-E0CE-4AFA-8C54-0DAB1B66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526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1:N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F4A6B8-9E2D-4F18-B22F-BA5F1DF5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526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1:N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6180E1-3DD1-43D6-BA8C-4EDF55D4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526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1:N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60D4A6-3B07-4891-996A-11E7FF43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订单项直接关联产品批次，因此消费者购买记录可以反查具体来源。</a:t>
            </a:r>
          </a:p>
        </p:txBody>
      </p:sp>
    </p:spTree>
    <p:extLst>
      <p:ext uri="{BB962C8B-B14F-4D97-AF65-F5344CB8AC3E}">
        <p14:creationId xmlns:p14="http://schemas.microsoft.com/office/powerpoint/2010/main" val="7223006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9AA9CC-6F0C-4A40-BD73-20034C4B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主要数据表设计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4574FCA-F27D-4580-BBD0-16B02B9C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围绕溯源、交易和助农扩展建立数据模型</a:t>
            </a:r>
          </a:p>
        </p:txBody>
      </p:sp>
      <p:sp>
        <p:nvSpPr>
          <p:cNvPr id="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7DCA1D26-C61E-4A7F-88FD-48E9AF52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智农溯源 毕设答辩</a:t>
            </a:r>
          </a:p>
        </p:txBody>
      </p:sp>
      <p:sp>
        <p:nvSpPr>
          <p:cNvPr id="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1E30FBE-C34D-4B40-947B-01D6B3C3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14350" y="1571625"/>
          <a:ext xmlns:a="http://schemas.openxmlformats.org/drawingml/2006/main" cx="11163300" cy="39528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33625"/>
                <a:gridCol w="2333625"/>
                <a:gridCol w="6496050"/>
              </a:tblGrid>
              <a:tr h="494109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数据表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49410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core_farmerprofile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FarmerProfile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农户联系方式、地址、店铺简介和认证信息</a:t>
                      </a:r>
                    </a:p>
                  </a:txBody>
                  <a:tcPr marL="91440" marR="91440" marT="45720" marB="45720"/>
                </a:tc>
              </a:tr>
              <a:tr h="49410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core_product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Product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农产品名称、分类、价格、单位和审核状态</a:t>
                      </a:r>
                    </a:p>
                  </a:txBody>
                  <a:tcPr marL="91440" marR="91440" marT="45720" marB="45720"/>
                </a:tc>
              </a:tr>
              <a:tr h="49410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core_productbatch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ProductBatch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批次编码、采收日期、质检报告、二维码</a:t>
                      </a:r>
                    </a:p>
                  </a:txBody>
                  <a:tcPr marL="91440" marR="91440" marT="45720" marB="45720"/>
                </a:tc>
              </a:tr>
              <a:tr h="49410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core_traceevent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TraceEvent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种植、施肥、采收、质检等链式溯源记录</a:t>
                      </a:r>
                    </a:p>
                  </a:txBody>
                  <a:tcPr marL="91440" marR="91440" marT="45720" marB="45720"/>
                </a:tc>
              </a:tr>
              <a:tr h="49410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core_order / orderitem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Order / OrderItem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订单信息、收货信息和批次明细</a:t>
                      </a:r>
                    </a:p>
                  </a:txBody>
                  <a:tcPr marL="91440" marR="91440" marT="45720" marB="45720"/>
                </a:tc>
              </a:tr>
              <a:tr h="49410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core_supplydemandpost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SupplyDemandPost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供应和需求信息发布</a:t>
                      </a:r>
                    </a:p>
                  </a:txBody>
                  <a:tcPr marL="91440" marR="91440" marT="45720" marB="45720"/>
                </a:tc>
              </a:tr>
              <a:tr h="49410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core_preorder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PreOrder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预售活动和消费者预订记录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48482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B4FEDB-345E-4794-A4E0-5E74294E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核心流程：批次溯源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F119DA9-45EE-4343-84D4-CDDCA064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每批产品生成独立批次编码和二维码，消费者可扫码查询</a:t>
            </a:r>
          </a:p>
        </p:txBody>
      </p:sp>
      <p:sp>
        <p:nvSpPr>
          <p:cNvPr id="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3B717008-2A37-4D78-A9A1-0321CDE8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智农溯源 毕设答辩</a:t>
            </a:r>
          </a:p>
        </p:txBody>
      </p:sp>
      <p:sp>
        <p:nvSpPr>
          <p:cNvPr id="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3166CBF-D6A8-4B2E-BB55-CABB48C3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node-农户发布产品">
            <a:extLst xmlns:a="http://schemas.openxmlformats.org/drawingml/2006/main">
              <a:ext uri="{FF2B5EF4-FFF2-40B4-BE49-F238E27FC236}">
                <a16:creationId xmlns:a16="http://schemas.microsoft.com/office/drawing/2014/main" id="{F466EC83-115C-4795-8F49-02865222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1428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农户发布产品</a:t>
            </a:r>
          </a:p>
        </p:txBody>
      </p:sp>
      <p:sp>
        <p:nvSpPr>
          <p:cNvPr id="6" name="node-管理员审核">
            <a:extLst xmlns:a="http://schemas.openxmlformats.org/drawingml/2006/main">
              <a:ext uri="{FF2B5EF4-FFF2-40B4-BE49-F238E27FC236}">
                <a16:creationId xmlns:a16="http://schemas.microsoft.com/office/drawing/2014/main" id="{0B8C973B-8DB2-4F70-8945-E05C8F09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76500"/>
            <a:ext cx="1428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管理员审核</a:t>
            </a:r>
          </a:p>
        </p:txBody>
      </p:sp>
      <p:sp>
        <p:nvSpPr>
          <p:cNvPr id="7" name="node-创建产品批次">
            <a:extLst xmlns:a="http://schemas.openxmlformats.org/drawingml/2006/main">
              <a:ext uri="{FF2B5EF4-FFF2-40B4-BE49-F238E27FC236}">
                <a16:creationId xmlns:a16="http://schemas.microsoft.com/office/drawing/2014/main" id="{14A056D7-7AB7-4D82-BA5D-C9E4CA95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1428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创建产品批次</a:t>
            </a:r>
          </a:p>
        </p:txBody>
      </p:sp>
      <p:sp>
        <p:nvSpPr>
          <p:cNvPr id="8" name="node-批次质检通过">
            <a:extLst xmlns:a="http://schemas.openxmlformats.org/drawingml/2006/main">
              <a:ext uri="{FF2B5EF4-FFF2-40B4-BE49-F238E27FC236}">
                <a16:creationId xmlns:a16="http://schemas.microsoft.com/office/drawing/2014/main" id="{E32F6F89-5507-49F5-AE11-E25DBD3D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1428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批次质检通过</a:t>
            </a:r>
          </a:p>
        </p:txBody>
      </p:sp>
      <p:sp>
        <p:nvSpPr>
          <p:cNvPr id="9" name="node-生成二维码">
            <a:extLst xmlns:a="http://schemas.openxmlformats.org/drawingml/2006/main">
              <a:ext uri="{FF2B5EF4-FFF2-40B4-BE49-F238E27FC236}">
                <a16:creationId xmlns:a16="http://schemas.microsoft.com/office/drawing/2014/main" id="{109CEF0F-52D8-4F2C-980B-CD29AFB7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76500"/>
            <a:ext cx="1428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生成二维码</a:t>
            </a:r>
          </a:p>
        </p:txBody>
      </p:sp>
      <p:sp>
        <p:nvSpPr>
          <p:cNvPr id="10" name="node-消费者扫码溯源">
            <a:extLst xmlns:a="http://schemas.openxmlformats.org/drawingml/2006/main">
              <a:ext uri="{FF2B5EF4-FFF2-40B4-BE49-F238E27FC236}">
                <a16:creationId xmlns:a16="http://schemas.microsoft.com/office/drawing/2014/main" id="{FB125668-98E7-42AF-BBED-7797C122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76500"/>
            <a:ext cx="1428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消费者扫码溯源</a:t>
            </a:r>
          </a:p>
        </p:txBody>
      </p: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924050" y="28479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886200" y="28479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848350" y="28479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810500" y="28479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772650" y="28479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BA700315-805F-4188-8B9D-21AC5758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43375"/>
            <a:ext cx="103632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CF6A28-FC58-4A14-8FBF-45427BAA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005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实现要点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6B5727-DEAF-4477-8DFB-FC8ECB00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6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批次审核通过后自动生成可读批次码；二维码指向 /trace/&lt;batch_code&gt;/；溯源事件采用基于链式结构的记录机制，具备防篡改设计基础。</a:t>
            </a:r>
          </a:p>
        </p:txBody>
      </p:sp>
    </p:spTree>
    <p:extLst>
      <p:ext uri="{BB962C8B-B14F-4D97-AF65-F5344CB8AC3E}">
        <p14:creationId xmlns:p14="http://schemas.microsoft.com/office/powerpoint/2010/main" val="18702147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60B883-CBDF-443C-8A2A-51441440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核心流程：订单交易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315E038-61F5-41BF-B16C-5BAFF214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从购物车到评价反馈，订单项绑定具体产品批次</a:t>
            </a:r>
          </a:p>
        </p:txBody>
      </p:sp>
      <p:sp>
        <p:nvSpPr>
          <p:cNvPr id="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F20D6CD1-F69E-4268-A035-A1D0615F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智农溯源 毕设答辩</a:t>
            </a:r>
          </a:p>
        </p:txBody>
      </p:sp>
      <p:sp>
        <p:nvSpPr>
          <p:cNvPr id="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F0C1D48-1160-4A47-B433-A02AABB8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node-浏览产品">
            <a:extLst xmlns:a="http://schemas.openxmlformats.org/drawingml/2006/main">
              <a:ext uri="{FF2B5EF4-FFF2-40B4-BE49-F238E27FC236}">
                <a16:creationId xmlns:a16="http://schemas.microsoft.com/office/drawing/2014/main" id="{15285F8E-B62B-4BA6-8693-D4AAF8ED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52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浏览产品</a:t>
            </a:r>
          </a:p>
        </p:txBody>
      </p:sp>
      <p:sp>
        <p:nvSpPr>
          <p:cNvPr id="6" name="node-加入购物车">
            <a:extLst xmlns:a="http://schemas.openxmlformats.org/drawingml/2006/main">
              <a:ext uri="{FF2B5EF4-FFF2-40B4-BE49-F238E27FC236}">
                <a16:creationId xmlns:a16="http://schemas.microsoft.com/office/drawing/2014/main" id="{0423F055-9E72-471B-9D14-9978C8FD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152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加入购物车</a:t>
            </a:r>
          </a:p>
        </p:txBody>
      </p:sp>
      <p:sp>
        <p:nvSpPr>
          <p:cNvPr id="7" name="node-填写收货信息">
            <a:extLst xmlns:a="http://schemas.openxmlformats.org/drawingml/2006/main">
              <a:ext uri="{FF2B5EF4-FFF2-40B4-BE49-F238E27FC236}">
                <a16:creationId xmlns:a16="http://schemas.microsoft.com/office/drawing/2014/main" id="{F0E4491B-87DD-43B1-88AC-6CAEDA4E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95500"/>
            <a:ext cx="152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填写收货信息</a:t>
            </a:r>
          </a:p>
        </p:txBody>
      </p:sp>
      <p:sp>
        <p:nvSpPr>
          <p:cNvPr id="8" name="node-生成订单">
            <a:extLst xmlns:a="http://schemas.openxmlformats.org/drawingml/2006/main">
              <a:ext uri="{FF2B5EF4-FFF2-40B4-BE49-F238E27FC236}">
                <a16:creationId xmlns:a16="http://schemas.microsoft.com/office/drawing/2014/main" id="{15BBD175-19A9-4D5C-8F1F-05896242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95500"/>
            <a:ext cx="152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生成订单</a:t>
            </a:r>
          </a:p>
        </p:txBody>
      </p:sp>
      <p:sp>
        <p:nvSpPr>
          <p:cNvPr id="9" name="node-线下支付凭证">
            <a:extLst xmlns:a="http://schemas.openxmlformats.org/drawingml/2006/main">
              <a:ext uri="{FF2B5EF4-FFF2-40B4-BE49-F238E27FC236}">
                <a16:creationId xmlns:a16="http://schemas.microsoft.com/office/drawing/2014/main" id="{79FD613B-5148-4455-AD2B-1A2B3387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95500"/>
            <a:ext cx="152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线下支付凭证</a:t>
            </a:r>
          </a:p>
        </p:txBody>
      </p:sp>
      <p:sp>
        <p:nvSpPr>
          <p:cNvPr id="10" name="node-农户确认">
            <a:extLst xmlns:a="http://schemas.openxmlformats.org/drawingml/2006/main">
              <a:ext uri="{FF2B5EF4-FFF2-40B4-BE49-F238E27FC236}">
                <a16:creationId xmlns:a16="http://schemas.microsoft.com/office/drawing/2014/main" id="{49D9A8EC-BBB0-46EE-AEBB-9921FB92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95750"/>
            <a:ext cx="152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农户确认</a:t>
            </a:r>
          </a:p>
        </p:txBody>
      </p:sp>
      <p:sp>
        <p:nvSpPr>
          <p:cNvPr id="11" name="node-填写物流单号">
            <a:extLst xmlns:a="http://schemas.openxmlformats.org/drawingml/2006/main">
              <a:ext uri="{FF2B5EF4-FFF2-40B4-BE49-F238E27FC236}">
                <a16:creationId xmlns:a16="http://schemas.microsoft.com/office/drawing/2014/main" id="{CC280DA3-6AEF-4E56-AB6D-F40E95E3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95750"/>
            <a:ext cx="152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填写物流单号</a:t>
            </a:r>
          </a:p>
        </p:txBody>
      </p:sp>
      <p:sp>
        <p:nvSpPr>
          <p:cNvPr id="12" name="node-确认收货">
            <a:extLst xmlns:a="http://schemas.openxmlformats.org/drawingml/2006/main">
              <a:ext uri="{FF2B5EF4-FFF2-40B4-BE49-F238E27FC236}">
                <a16:creationId xmlns:a16="http://schemas.microsoft.com/office/drawing/2014/main" id="{5DEAD06D-A801-4B80-88AE-078D1F22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95750"/>
            <a:ext cx="152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确认收货</a:t>
            </a:r>
          </a:p>
        </p:txBody>
      </p:sp>
      <p:sp>
        <p:nvSpPr>
          <p:cNvPr id="13" name="node-评价反馈">
            <a:extLst xmlns:a="http://schemas.openxmlformats.org/drawingml/2006/main">
              <a:ext uri="{FF2B5EF4-FFF2-40B4-BE49-F238E27FC236}">
                <a16:creationId xmlns:a16="http://schemas.microsoft.com/office/drawing/2014/main" id="{1248B2C0-ED4C-4CA4-A8A4-C88A22CA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152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评价反馈</a:t>
            </a:r>
          </a:p>
        </p:txBody>
      </p:sp>
      <p:cxnSp>
        <p:nvCxnSpPr>
          <p:cNvPr id="3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343150" y="2438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476750" y="2438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610350" y="2438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743950" y="2438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40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0115550" y="2781300"/>
            <a:ext cx="0" cy="1314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41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8743950" y="4438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42" name="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6610350" y="4438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12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4476750" y="4438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15C816-CFAE-4C28-93B5-EBFC5276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76875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设计亮点：OrderItem 关联 ProductBatch，保证交易记录能够追溯到具体批次。</a:t>
            </a:r>
          </a:p>
        </p:txBody>
      </p:sp>
    </p:spTree>
    <p:extLst>
      <p:ext uri="{BB962C8B-B14F-4D97-AF65-F5344CB8AC3E}">
        <p14:creationId xmlns:p14="http://schemas.microsoft.com/office/powerpoint/2010/main" val="14854545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191859-6E2B-4A75-B510-0556E92E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智能助农分析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67F4160-7E70-48B6-8C8D-660E4DB0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订单数据聚合后生成市场简报，模型不可用时自动降级</a:t>
            </a:r>
          </a:p>
        </p:txBody>
      </p:sp>
      <p:sp>
        <p:nvSpPr>
          <p:cNvPr id="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8C9FDABD-3F8D-4E2E-A19D-9653B178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智农溯源 毕设答辩</a:t>
            </a:r>
          </a:p>
        </p:txBody>
      </p:sp>
      <p:sp>
        <p:nvSpPr>
          <p:cNvPr id="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DCD7BA6-AA5A-45E7-AD22-9BA1A4A7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66BCA6D1-974E-4B72-9861-2BCA8832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54B4B5B6-982C-4224-8367-DB9EE4E2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5811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39B93-E509-4198-BEA3-FDCEEF9C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数据来源</a:t>
            </a:r>
          </a:p>
        </p:txBody>
      </p:sp>
      <p:sp>
        <p:nvSpPr>
          <p:cNvPr id="8" name="bullet-list">
            <a:extLst xmlns:a="http://schemas.openxmlformats.org/drawingml/2006/main">
              <a:ext uri="{FF2B5EF4-FFF2-40B4-BE49-F238E27FC236}">
                <a16:creationId xmlns:a16="http://schemas.microsoft.com/office/drawing/2014/main" id="{14EFCCE8-53D7-40E0-867E-39B8824E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342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• 产品销量与库存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• 订单地区分布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• 供需缺口统计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• 热销产品排序</a:t>
            </a:r>
          </a:p>
        </p:txBody>
      </p:sp>
      <p:sp>
        <p:nvSpPr>
          <p:cNvPr id="9" name="node-Django ORM&#10;聚合统计">
            <a:extLst xmlns:a="http://schemas.openxmlformats.org/drawingml/2006/main">
              <a:ext uri="{FF2B5EF4-FFF2-40B4-BE49-F238E27FC236}">
                <a16:creationId xmlns:a16="http://schemas.microsoft.com/office/drawing/2014/main" id="{33236D72-FD0E-4673-B2B1-5EFE4A84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67050"/>
            <a:ext cx="1524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Django ORM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聚合统计</a:t>
            </a:r>
          </a:p>
        </p:txBody>
      </p:sp>
      <p:sp>
        <p:nvSpPr>
          <p:cNvPr id="10" name="node-本地大模型&#10;生成简报">
            <a:extLst xmlns:a="http://schemas.openxmlformats.org/drawingml/2006/main">
              <a:ext uri="{FF2B5EF4-FFF2-40B4-BE49-F238E27FC236}">
                <a16:creationId xmlns:a16="http://schemas.microsoft.com/office/drawing/2014/main" id="{709034CB-94CD-428D-AAB5-7C671A1A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67050"/>
            <a:ext cx="1524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本地大模型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生成简报</a:t>
            </a:r>
          </a:p>
        </p:txBody>
      </p:sp>
      <p:cxnSp>
        <p:nvCxnSpPr>
          <p:cNvPr id="2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019800" y="34004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88F3CA-77ED-4E6F-9BA3-4682FB7A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输出能力</a:t>
            </a:r>
          </a:p>
        </p:txBody>
      </p:sp>
      <p:sp>
        <p:nvSpPr>
          <p:cNvPr id="13" name="bullet-list">
            <a:extLst xmlns:a="http://schemas.openxmlformats.org/drawingml/2006/main">
              <a:ext uri="{FF2B5EF4-FFF2-40B4-BE49-F238E27FC236}">
                <a16:creationId xmlns:a16="http://schemas.microsoft.com/office/drawing/2014/main" id="{880A901B-7FED-4E49-A3ED-4F8817B2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314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• 市场整体状况概括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• 当前热门农产品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• 供不应求品类提示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• 给农户的销售建议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F104B-4E0F-4DFB-B836-775C80FF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102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降级策略：模型不可用时，规则引擎仍可生成摘要，保证功能页面可用。</a:t>
            </a:r>
          </a:p>
        </p:txBody>
      </p:sp>
    </p:spTree>
    <p:extLst>
      <p:ext uri="{BB962C8B-B14F-4D97-AF65-F5344CB8AC3E}">
        <p14:creationId xmlns:p14="http://schemas.microsoft.com/office/powerpoint/2010/main" val="6227735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AC4E8F-D980-4666-97E1-08ED0D47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后台管理与权限控制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06DE281-8E09-4950-921C-FF691ED9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通过角色识别和审核流程保证数据质量</a:t>
            </a:r>
          </a:p>
        </p:txBody>
      </p:sp>
      <p:sp>
        <p:nvSpPr>
          <p:cNvPr id="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121F60B-3CBA-4BD4-B94E-D72F17DB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智农溯源 毕设答辩</a:t>
            </a:r>
          </a:p>
        </p:txBody>
      </p:sp>
      <p:sp>
        <p:nvSpPr>
          <p:cNvPr id="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5950790-8981-4D99-9311-3D231B62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303EFE4D-EBD4-49E6-AEA1-81D94D0A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6" name="card-mark">
            <a:extLst xmlns:a="http://schemas.openxmlformats.org/drawingml/2006/main">
              <a:ext uri="{FF2B5EF4-FFF2-40B4-BE49-F238E27FC236}">
                <a16:creationId xmlns:a16="http://schemas.microsoft.com/office/drawing/2014/main" id="{DC235AA7-A692-42D0-AA56-3E929233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rd-heading">
            <a:extLst xmlns:a="http://schemas.openxmlformats.org/drawingml/2006/main">
              <a:ext uri="{FF2B5EF4-FFF2-40B4-BE49-F238E27FC236}">
                <a16:creationId xmlns:a16="http://schemas.microsoft.com/office/drawing/2014/main" id="{56BAC4C4-8D39-4E89-8CF3-60CB05BE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权限控制</a:t>
            </a:r>
          </a:p>
        </p:txBody>
      </p:sp>
      <p:sp>
        <p:nvSpPr>
          <p:cNvPr id="8" name="card-body">
            <a:extLst xmlns:a="http://schemas.openxmlformats.org/drawingml/2006/main">
              <a:ext uri="{FF2B5EF4-FFF2-40B4-BE49-F238E27FC236}">
                <a16:creationId xmlns:a16="http://schemas.microsoft.com/office/drawing/2014/main" id="{8D49C810-D864-47E6-9923-B0E100A5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0300"/>
            <a:ext cx="26098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Django 登录认证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农户功能需要 FarmerProfile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管理员功能需要 staff 权限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接口层保留 DRF 权限控制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678596C7-4AA5-4331-B4E2-CE7AE695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card-mark">
            <a:extLst xmlns:a="http://schemas.openxmlformats.org/drawingml/2006/main">
              <a:ext uri="{FF2B5EF4-FFF2-40B4-BE49-F238E27FC236}">
                <a16:creationId xmlns:a16="http://schemas.microsoft.com/office/drawing/2014/main" id="{5A04E366-632B-4748-B089-E7033339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574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rd-heading">
            <a:extLst xmlns:a="http://schemas.openxmlformats.org/drawingml/2006/main">
              <a:ext uri="{FF2B5EF4-FFF2-40B4-BE49-F238E27FC236}">
                <a16:creationId xmlns:a16="http://schemas.microsoft.com/office/drawing/2014/main" id="{5BED2B36-8112-453E-95DB-BE93B2FA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0002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审核流程</a:t>
            </a:r>
          </a:p>
        </p:txBody>
      </p:sp>
      <p:sp>
        <p:nvSpPr>
          <p:cNvPr id="12" name="card-body">
            <a:extLst xmlns:a="http://schemas.openxmlformats.org/drawingml/2006/main">
              <a:ext uri="{FF2B5EF4-FFF2-40B4-BE49-F238E27FC236}">
                <a16:creationId xmlns:a16="http://schemas.microsoft.com/office/drawing/2014/main" id="{9739B445-8EF5-4AF3-9B9C-F35D3AD1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400300"/>
            <a:ext cx="26098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产品审核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批次质检审核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农户入驻审核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补贴申请审核</a:t>
            </a:r>
          </a:p>
        </p:txBody>
      </p:sp>
      <p:sp>
        <p:nvSpPr>
          <p:cNvPr id="13" name="panel">
            <a:extLst xmlns:a="http://schemas.openxmlformats.org/drawingml/2006/main">
              <a:ext uri="{FF2B5EF4-FFF2-40B4-BE49-F238E27FC236}">
                <a16:creationId xmlns:a16="http://schemas.microsoft.com/office/drawing/2014/main" id="{2FE645C3-2A3C-4581-98DE-2A14D7F9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4" name="card-mark">
            <a:extLst xmlns:a="http://schemas.openxmlformats.org/drawingml/2006/main">
              <a:ext uri="{FF2B5EF4-FFF2-40B4-BE49-F238E27FC236}">
                <a16:creationId xmlns:a16="http://schemas.microsoft.com/office/drawing/2014/main" id="{F616B0DB-352B-445A-B62A-716325A5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574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d-heading">
            <a:extLst xmlns:a="http://schemas.openxmlformats.org/drawingml/2006/main">
              <a:ext uri="{FF2B5EF4-FFF2-40B4-BE49-F238E27FC236}">
                <a16:creationId xmlns:a16="http://schemas.microsoft.com/office/drawing/2014/main" id="{17EAC6B0-7F13-47EB-83EC-180A622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运营能力</a:t>
            </a:r>
          </a:p>
        </p:txBody>
      </p:sp>
      <p:sp>
        <p:nvSpPr>
          <p:cNvPr id="16" name="card-body">
            <a:extLst xmlns:a="http://schemas.openxmlformats.org/drawingml/2006/main">
              <a:ext uri="{FF2B5EF4-FFF2-40B4-BE49-F238E27FC236}">
                <a16:creationId xmlns:a16="http://schemas.microsoft.com/office/drawing/2014/main" id="{D68A6014-8D74-497E-97EB-72903234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00300"/>
            <a:ext cx="26098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用户管理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订单与产品数据导出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站内通知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后台数据看板</a:t>
            </a:r>
          </a:p>
        </p:txBody>
      </p:sp>
    </p:spTree>
    <p:extLst>
      <p:ext uri="{BB962C8B-B14F-4D97-AF65-F5344CB8AC3E}">
        <p14:creationId xmlns:p14="http://schemas.microsoft.com/office/powerpoint/2010/main" val="1639423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AC7EE0-B293-458F-923B-C182FC7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系统测试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19C4F1D-2D02-46E4-B14D-5FD64F98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围绕主流程、接口权限和页面可用性进行验证</a:t>
            </a:r>
          </a:p>
        </p:txBody>
      </p:sp>
      <p:sp>
        <p:nvSpPr>
          <p:cNvPr id="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5DCA868-16F7-4F0F-BC02-4CED2BB6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智农溯源 毕设答辩</a:t>
            </a:r>
          </a:p>
        </p:txBody>
      </p:sp>
      <p:sp>
        <p:nvSpPr>
          <p:cNvPr id="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7C101AB-1908-416A-B0BC-EBE30E6D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14500"/>
                <a:gridCol w="2857500"/>
                <a:gridCol w="5353050"/>
                <a:gridCol w="1047750"/>
              </a:tblGrid>
              <a:tr h="5080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测试项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预期结果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用户登录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输入正确账号密码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登录成功并按角色跳转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1440" marR="91440" marT="45720" marB="45720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产品审核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管理员点击通过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产品状态变为已上架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1440" marR="91440" marT="45720" marB="45720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批次溯源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输入有效批次码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展示产品、质检和溯源事件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1440" marR="91440" marT="45720" marB="45720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订单提交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填写收货信息并提交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生成订单和订单项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1440" marR="91440" marT="45720" marB="45720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分析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访问市场分析页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展示统计和简报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21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615A0-D62D-49EA-A720-AE6D089D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1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覆盖范围：模型创建、API 权限、页面加载、表单提交、异常输入和核心业务闭环。</a:t>
            </a:r>
          </a:p>
        </p:txBody>
      </p:sp>
    </p:spTree>
    <p:extLst>
      <p:ext uri="{BB962C8B-B14F-4D97-AF65-F5344CB8AC3E}">
        <p14:creationId xmlns:p14="http://schemas.microsoft.com/office/powerpoint/2010/main" val="3190193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8FC2C4-1753-4478-8F7E-387CD312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系统演示路线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2B2AC6F-9448-400B-B275-BDBE4036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答辩现场按一条闭环路线演示，避免跳转混乱</a:t>
            </a:r>
          </a:p>
        </p:txBody>
      </p:sp>
      <p:sp>
        <p:nvSpPr>
          <p:cNvPr id="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1711AE59-C145-409E-BF90-925D0799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智农溯源 毕设答辩</a:t>
            </a:r>
          </a:p>
        </p:txBody>
      </p:sp>
      <p:sp>
        <p:nvSpPr>
          <p:cNvPr id="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7859FC0-FFA1-4BB4-873F-2168D21B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node-首页看板">
            <a:extLst xmlns:a="http://schemas.openxmlformats.org/drawingml/2006/main">
              <a:ext uri="{FF2B5EF4-FFF2-40B4-BE49-F238E27FC236}">
                <a16:creationId xmlns:a16="http://schemas.microsoft.com/office/drawing/2014/main" id="{172DE488-DB90-4342-926D-0E7498F0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首页看板</a:t>
            </a:r>
          </a:p>
        </p:txBody>
      </p:sp>
      <p:sp>
        <p:nvSpPr>
          <p:cNvPr id="6" name="node-产品列表">
            <a:extLst xmlns:a="http://schemas.openxmlformats.org/drawingml/2006/main">
              <a:ext uri="{FF2B5EF4-FFF2-40B4-BE49-F238E27FC236}">
                <a16:creationId xmlns:a16="http://schemas.microsoft.com/office/drawing/2014/main" id="{1E4CDACA-7C6C-4697-9137-D45B24A5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产品列表</a:t>
            </a:r>
          </a:p>
        </p:txBody>
      </p:sp>
      <p:sp>
        <p:nvSpPr>
          <p:cNvPr id="7" name="node-产品详情">
            <a:extLst xmlns:a="http://schemas.openxmlformats.org/drawingml/2006/main">
              <a:ext uri="{FF2B5EF4-FFF2-40B4-BE49-F238E27FC236}">
                <a16:creationId xmlns:a16="http://schemas.microsoft.com/office/drawing/2014/main" id="{65C823AD-754A-4992-B86E-39758ECA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145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产品详情</a:t>
            </a:r>
          </a:p>
        </p:txBody>
      </p:sp>
      <p:sp>
        <p:nvSpPr>
          <p:cNvPr id="8" name="node-下单支付">
            <a:extLst xmlns:a="http://schemas.openxmlformats.org/drawingml/2006/main">
              <a:ext uri="{FF2B5EF4-FFF2-40B4-BE49-F238E27FC236}">
                <a16:creationId xmlns:a16="http://schemas.microsoft.com/office/drawing/2014/main" id="{5F68F34E-0DF2-4A06-8CBD-0D88292B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下单支付</a:t>
            </a:r>
          </a:p>
        </p:txBody>
      </p:sp>
      <p:sp>
        <p:nvSpPr>
          <p:cNvPr id="9" name="node-农户后台">
            <a:extLst xmlns:a="http://schemas.openxmlformats.org/drawingml/2006/main">
              <a:ext uri="{FF2B5EF4-FFF2-40B4-BE49-F238E27FC236}">
                <a16:creationId xmlns:a16="http://schemas.microsoft.com/office/drawing/2014/main" id="{C9DDEC99-0171-4A0C-9C58-9F64F931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145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农户后台</a:t>
            </a:r>
          </a:p>
        </p:txBody>
      </p:sp>
      <p:sp>
        <p:nvSpPr>
          <p:cNvPr id="10" name="node-批次二维码">
            <a:extLst xmlns:a="http://schemas.openxmlformats.org/drawingml/2006/main">
              <a:ext uri="{FF2B5EF4-FFF2-40B4-BE49-F238E27FC236}">
                <a16:creationId xmlns:a16="http://schemas.microsoft.com/office/drawing/2014/main" id="{B7106E8D-DA0F-4477-9D26-01034554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0525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批次二维码</a:t>
            </a:r>
          </a:p>
        </p:txBody>
      </p:sp>
      <p:sp>
        <p:nvSpPr>
          <p:cNvPr id="11" name="node-溯源查询">
            <a:extLst xmlns:a="http://schemas.openxmlformats.org/drawingml/2006/main">
              <a:ext uri="{FF2B5EF4-FFF2-40B4-BE49-F238E27FC236}">
                <a16:creationId xmlns:a16="http://schemas.microsoft.com/office/drawing/2014/main" id="{3106F057-271F-48F8-8E5F-26B813C0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0525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溯源查询</a:t>
            </a:r>
          </a:p>
        </p:txBody>
      </p:sp>
      <p:sp>
        <p:nvSpPr>
          <p:cNvPr id="12" name="node-市场分析">
            <a:extLst xmlns:a="http://schemas.openxmlformats.org/drawingml/2006/main">
              <a:ext uri="{FF2B5EF4-FFF2-40B4-BE49-F238E27FC236}">
                <a16:creationId xmlns:a16="http://schemas.microsoft.com/office/drawing/2014/main" id="{F16EF4EC-0E4C-4018-B010-DFA4A465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0525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</a:p>
        </p:txBody>
      </p:sp>
      <p:sp>
        <p:nvSpPr>
          <p:cNvPr id="13" name="node-管理审核">
            <a:extLst xmlns:a="http://schemas.openxmlformats.org/drawingml/2006/main">
              <a:ext uri="{FF2B5EF4-FFF2-40B4-BE49-F238E27FC236}">
                <a16:creationId xmlns:a16="http://schemas.microsoft.com/office/drawing/2014/main" id="{CB8CE5E5-E0C7-4377-8BB9-A2B1C749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管理审核</a:t>
            </a:r>
          </a:p>
        </p:txBody>
      </p:sp>
      <p:cxnSp>
        <p:nvCxnSpPr>
          <p:cNvPr id="3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90750" y="2047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381500" y="2047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572250" y="2047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763000" y="2047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40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8048625" y="2381250"/>
            <a:ext cx="2190750" cy="1524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41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657225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42" name="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4381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12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219075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5E3891-1ED5-4658-B336-7EDB2E7F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340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演示原则：先展示消费者视角，再展示农户和管理员视角，最后用溯源与分析体现系统特色。</a:t>
            </a:r>
          </a:p>
        </p:txBody>
      </p:sp>
    </p:spTree>
    <p:extLst>
      <p:ext uri="{BB962C8B-B14F-4D97-AF65-F5344CB8AC3E}">
        <p14:creationId xmlns:p14="http://schemas.microsoft.com/office/powerpoint/2010/main" val="32967420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8F3EAC-1CE6-4B22-85CA-447F21DC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创新点与特色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DBD34D5-C4DC-410D-B7D0-469A1A1F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从业务闭环、可信溯源和智能助农三个层面体现项目价值</a:t>
            </a:r>
          </a:p>
        </p:txBody>
      </p:sp>
      <p:sp>
        <p:nvSpPr>
          <p:cNvPr id="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1DB6894C-4B23-4625-92FB-11730C30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智农溯源 毕设答辩</a:t>
            </a:r>
          </a:p>
        </p:txBody>
      </p:sp>
      <p:sp>
        <p:nvSpPr>
          <p:cNvPr id="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E8AA8DE-3107-4B94-AFE5-A5DD2726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43620A05-8647-44ED-BCD1-D3D7A264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143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6" name="card-mark">
            <a:extLst xmlns:a="http://schemas.openxmlformats.org/drawingml/2006/main">
              <a:ext uri="{FF2B5EF4-FFF2-40B4-BE49-F238E27FC236}">
                <a16:creationId xmlns:a16="http://schemas.microsoft.com/office/drawing/2014/main" id="{DCEE3C14-2584-4E2B-81E1-35D1105D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rd-heading">
            <a:extLst xmlns:a="http://schemas.openxmlformats.org/drawingml/2006/main">
              <a:ext uri="{FF2B5EF4-FFF2-40B4-BE49-F238E27FC236}">
                <a16:creationId xmlns:a16="http://schemas.microsoft.com/office/drawing/2014/main" id="{F2480A1F-6285-41BF-8E46-F6A8868E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0025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交易 + 溯源结合</a:t>
            </a:r>
          </a:p>
        </p:txBody>
      </p:sp>
      <p:sp>
        <p:nvSpPr>
          <p:cNvPr id="8" name="card-body">
            <a:extLst xmlns:a="http://schemas.openxmlformats.org/drawingml/2006/main">
              <a:ext uri="{FF2B5EF4-FFF2-40B4-BE49-F238E27FC236}">
                <a16:creationId xmlns:a16="http://schemas.microsoft.com/office/drawing/2014/main" id="{46C5CB41-8E8F-462B-A572-2E7AA458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00300"/>
            <a:ext cx="4419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订单项关联具体产品批次，交易后仍能追溯来源。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51E7AFB3-80D7-486B-825A-33609480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5143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card-mark">
            <a:extLst xmlns:a="http://schemas.openxmlformats.org/drawingml/2006/main">
              <a:ext uri="{FF2B5EF4-FFF2-40B4-BE49-F238E27FC236}">
                <a16:creationId xmlns:a16="http://schemas.microsoft.com/office/drawing/2014/main" id="{02ABFECE-3A60-493A-B7B2-294B426C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574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rd-heading">
            <a:extLst xmlns:a="http://schemas.openxmlformats.org/drawingml/2006/main">
              <a:ext uri="{FF2B5EF4-FFF2-40B4-BE49-F238E27FC236}">
                <a16:creationId xmlns:a16="http://schemas.microsoft.com/office/drawing/2014/main" id="{60F52EFA-E9DB-4E23-B726-9573415F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0025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低成本二维码方案</a:t>
            </a:r>
          </a:p>
        </p:txBody>
      </p:sp>
      <p:sp>
        <p:nvSpPr>
          <p:cNvPr id="12" name="card-body">
            <a:extLst xmlns:a="http://schemas.openxmlformats.org/drawingml/2006/main">
              <a:ext uri="{FF2B5EF4-FFF2-40B4-BE49-F238E27FC236}">
                <a16:creationId xmlns:a16="http://schemas.microsoft.com/office/drawing/2014/main" id="{56BA3D88-01BD-43BE-9DB4-DB1DA4EA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00300"/>
            <a:ext cx="4419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批次码和二维码降低消费者查询门槛，便于农户落地。</a:t>
            </a:r>
          </a:p>
        </p:txBody>
      </p:sp>
      <p:sp>
        <p:nvSpPr>
          <p:cNvPr id="13" name="panel">
            <a:extLst xmlns:a="http://schemas.openxmlformats.org/drawingml/2006/main">
              <a:ext uri="{FF2B5EF4-FFF2-40B4-BE49-F238E27FC236}">
                <a16:creationId xmlns:a16="http://schemas.microsoft.com/office/drawing/2014/main" id="{92EC8356-C785-45E0-9877-AE8EE7EE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5143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4" name="card-mark">
            <a:extLst xmlns:a="http://schemas.openxmlformats.org/drawingml/2006/main">
              <a:ext uri="{FF2B5EF4-FFF2-40B4-BE49-F238E27FC236}">
                <a16:creationId xmlns:a16="http://schemas.microsoft.com/office/drawing/2014/main" id="{E9297665-64FF-4401-B602-77D1786E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d-heading">
            <a:extLst xmlns:a="http://schemas.openxmlformats.org/drawingml/2006/main">
              <a:ext uri="{FF2B5EF4-FFF2-40B4-BE49-F238E27FC236}">
                <a16:creationId xmlns:a16="http://schemas.microsoft.com/office/drawing/2014/main" id="{EC7CB773-CE57-4E11-BF16-6637A565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链式结构记录机制</a:t>
            </a:r>
          </a:p>
        </p:txBody>
      </p:sp>
      <p:sp>
        <p:nvSpPr>
          <p:cNvPr id="16" name="card-body">
            <a:extLst xmlns:a="http://schemas.openxmlformats.org/drawingml/2006/main">
              <a:ext uri="{FF2B5EF4-FFF2-40B4-BE49-F238E27FC236}">
                <a16:creationId xmlns:a16="http://schemas.microsoft.com/office/drawing/2014/main" id="{FCF58306-511F-4D16-9411-A78A779A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95800"/>
            <a:ext cx="4419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溯源事件具备防篡改设计基础，后续可接入可信存证平台。</a:t>
            </a:r>
          </a:p>
        </p:txBody>
      </p:sp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A57DD6D7-9AD9-405D-8B12-02145F95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5143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8" name="card-mark">
            <a:extLst xmlns:a="http://schemas.openxmlformats.org/drawingml/2006/main">
              <a:ext uri="{FF2B5EF4-FFF2-40B4-BE49-F238E27FC236}">
                <a16:creationId xmlns:a16="http://schemas.microsoft.com/office/drawing/2014/main" id="{7E3835A3-218F-469A-9BA7-73D05406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529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rd-heading">
            <a:extLst xmlns:a="http://schemas.openxmlformats.org/drawingml/2006/main">
              <a:ext uri="{FF2B5EF4-FFF2-40B4-BE49-F238E27FC236}">
                <a16:creationId xmlns:a16="http://schemas.microsoft.com/office/drawing/2014/main" id="{6A24B874-1E8A-46D2-A3ED-B005732F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9575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本地大模型助农</a:t>
            </a:r>
          </a:p>
        </p:txBody>
      </p:sp>
      <p:sp>
        <p:nvSpPr>
          <p:cNvPr id="20" name="card-body">
            <a:extLst xmlns:a="http://schemas.openxmlformats.org/drawingml/2006/main">
              <a:ext uri="{FF2B5EF4-FFF2-40B4-BE49-F238E27FC236}">
                <a16:creationId xmlns:a16="http://schemas.microsoft.com/office/drawing/2014/main" id="{702B49A8-9DF2-4AF2-8AB0-AEB56935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95800"/>
            <a:ext cx="4419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订单数据生成市场简报，并提供离线规则降级策略。</a:t>
            </a:r>
          </a:p>
        </p:txBody>
      </p:sp>
    </p:spTree>
    <p:extLst>
      <p:ext uri="{BB962C8B-B14F-4D97-AF65-F5344CB8AC3E}">
        <p14:creationId xmlns:p14="http://schemas.microsoft.com/office/powerpoint/2010/main" val="7131607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9BAA87-A6BE-40F8-B450-F6A591A6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总结与展望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D79B717-81EB-4BF6-95F8-40C728EE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系统完成了从需求、设计、实现到测试的完整过程</a:t>
            </a:r>
          </a:p>
        </p:txBody>
      </p:sp>
      <p:sp>
        <p:nvSpPr>
          <p:cNvPr id="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4249489F-641E-44E3-9B87-5216571C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智农溯源 毕设答辩</a:t>
            </a:r>
          </a:p>
        </p:txBody>
      </p:sp>
      <p:sp>
        <p:nvSpPr>
          <p:cNvPr id="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A70EF77-9A13-498B-8FE1-B0475046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EE3BF7E3-3F99-4FD8-AC7B-F64A28A7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476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45863-15FB-4753-BBBD-C6709D91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98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0AD0D-4CDA-4466-886D-FBE84325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类核心角色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8D0E0A14-9CEE-42A8-83EB-8EE4FDD5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52625"/>
            <a:ext cx="2476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448AF-78EA-4BE1-999B-CAF1AFB0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198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10+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4708C5-C36B-4C0E-8FAE-AB804CEC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051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业务模块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D98129F2-5F71-4E1C-BD7E-D956EFFD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2476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17749-133A-45BB-8CB5-86252683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66950"/>
            <a:ext cx="198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8+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F5DE6C-D8C8-4EDE-A42B-DFAEAFBE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51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核心实体关系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9C851F27-7771-4068-AFA3-5C76E7AE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52625"/>
            <a:ext cx="2476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7DA0F-4FEC-4EAF-9E6D-319D0F64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66950"/>
            <a:ext cx="198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AEB16B-B122-4E2E-9394-D8CF5DD3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051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主要创新点</a:t>
            </a:r>
          </a:p>
        </p:txBody>
      </p:sp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EFE6039E-A648-42E9-B402-548F67F6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668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E20154-0B54-4981-8B52-52DB2CF1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后续可扩展：微信小程序、真实在线支付、物联网数据采集、可信存证平台、个性化推荐与价格预测。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C34415-BBBF-4C50-A91D-217C7C34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7531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感谢各位老师，请批评指正。</a:t>
            </a:r>
          </a:p>
        </p:txBody>
      </p:sp>
    </p:spTree>
    <p:extLst>
      <p:ext uri="{BB962C8B-B14F-4D97-AF65-F5344CB8AC3E}">
        <p14:creationId xmlns:p14="http://schemas.microsoft.com/office/powerpoint/2010/main" val="20328377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2026-06-30T10:19:48.5630000Z</dcterms:created>
  <dcterms:modified xsi:type="dcterms:W3CDTF">2026-06-30T10:19:48.5630000Z</dcterms:modified>
</coreProperties>
</file>