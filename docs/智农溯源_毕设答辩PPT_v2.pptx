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Aft>
                <a:spcPts val="200"/>
              </a:spcAft>
              <a:defRPr sz="2600" b="0">
                <a:solidFill>
                  <a:srgbClr val="7F8C8D"/>
                </a:solidFill>
                <a:latin typeface="Microsoft YaHei"/>
              </a:defRPr>
            </a:pPr>
            <a:r>
              <a:t>基于 Django 与大模型的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59"/>
              </a:lnSpc>
              <a:spcAft>
                <a:spcPts val="200"/>
              </a:spcAft>
              <a:defRPr sz="4400" b="1">
                <a:solidFill>
                  <a:srgbClr val="1B3A5C"/>
                </a:solidFill>
                <a:latin typeface="Microsoft YaHei"/>
              </a:defRPr>
            </a:pPr>
            <a:r>
              <a:t>农产品溯源与智能助农平台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Aft>
                <a:spcPts val="200"/>
              </a:spcAft>
              <a:defRPr sz="1500" b="0">
                <a:solidFill>
                  <a:srgbClr val="7F8C8D"/>
                </a:solidFill>
                <a:latin typeface="Microsoft YaHei"/>
              </a:defRPr>
            </a:pPr>
            <a:r>
              <a:t>面向农户、消费者和平台管理员的农产品可信交易与助农服务平台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Django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DRF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Bootstrap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Ollama 本地大模型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3474720"/>
            <a:ext cx="1508760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389120"/>
            <a:ext cx="3200400" cy="2194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5120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答辩人：______________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指导教师：______________</a:t>
            </a:r>
          </a:p>
          <a:p>
            <a:pPr algn="l">
              <a:lnSpc>
                <a:spcPts val="2160"/>
              </a:lnSpc>
              <a:spcAft>
                <a:spcPts val="200"/>
              </a:spcAft>
              <a:defRPr sz="1200" b="0">
                <a:solidFill>
                  <a:srgbClr val="BDC3C7"/>
                </a:solidFill>
                <a:latin typeface="Microsoft YaHei"/>
              </a:defRPr>
            </a:pPr>
            <a:r>
              <a:t>日期：2026年07月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按 [问题-设计-实现-验证-总结] 逻辑展开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7472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20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📌 答辩重点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系统真实可运行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数据库关系清楚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核心流程闭环</a:t>
            </a:r>
          </a:p>
          <a:p>
            <a:pPr algn="l">
              <a:lnSpc>
                <a:spcPts val="2700"/>
              </a:lnSpc>
              <a:spcAft>
                <a:spcPts val="200"/>
              </a:spcAft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技术实现有亮点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1. 研究背景与课题目标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2. 需求分析与技术路线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3. 系统架构与程序结构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4. 数据库 E-R 设计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5. 核心功能实现（溯源 + 交易 + AI）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6. 系统测试与演示路线</a:t>
            </a:r>
          </a:p>
          <a:p>
            <a:pPr algn="l">
              <a:lnSpc>
                <a:spcPts val="3600"/>
              </a:lnSpc>
              <a:spcAft>
                <a:spcPts val="200"/>
              </a:spcAft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7. 创新点、总结与展望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传统农产品流通链条中，信任、渠道和数据能力是主要痛点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7472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4864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来源信息不透明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0175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消费者难以获取产地、采收、质检和流转信息，影响购买信任和食品安全。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7472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54864" cy="2194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农户渠道有限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60320"/>
            <a:ext cx="30175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中小农户缺少稳定线上展示和交易渠道，销售依赖中间环节，利润被层层压缩。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011680"/>
            <a:ext cx="3474720" cy="2560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194560"/>
            <a:ext cx="54864" cy="2194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助农服务分散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560320"/>
            <a:ext cx="301752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补贴申请、技术培训、供需对接和市场判断缺少统一入口，数字化程度不足。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9200"/>
            <a:ext cx="1097280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🎯 课题定位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66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D5D8DC"/>
                </a:solidFill>
                <a:latin typeface="Microsoft YaHei"/>
              </a:defRPr>
            </a:pPr>
            <a:r>
              <a:t>建设连接农户、消费者、管理员的「可信溯源 + 助农服务」平台，用低成本 Web 技术实现产品发布→交易→溯源→供需→智能分析闭环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系统目标与角色需求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围绕消费者、农户和管理员三类角色建立业务闭环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技术路线与开发环境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采用成熟 Python Web 技术栈，兼顾开发效率、扩展性和部署便利性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9202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5669280"/>
              </a:tblGrid>
              <a:tr h="447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后端框架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Django 6.0 + DRF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业务处理、ORM、认证授权、模板渲染</a:t>
                      </a:r>
                    </a:p>
                  </a:txBody>
                  <a:tcPr anchor="ctr"/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前端页面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Django Templates + Bootstrap 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响应式页面、表单、列表和后台管理界面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数据可视化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ECharts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首页数据看板、市场分析图表和地区统计</a:t>
                      </a:r>
                    </a:p>
                  </a:txBody>
                  <a:tcPr anchor="ctr"/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SQLite（开发）/ PostgreSQL（生产）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数据持久化，ORM 管理数据模型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批次溯源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qrcode + 链式结构记录机制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批次二维码生成、溯源记录防篡改设计</a:t>
                      </a:r>
                    </a:p>
                  </a:txBody>
                  <a:tcPr anchor="ctr"/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智能分析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本地大模型 Ollama（qwen2.5:7b）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市场简报生成和农业智能问答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API 文档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drf-spectacular / Swagger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自动生成 OpenAPI 文档</a:t>
                      </a:r>
                    </a:p>
                  </a:txBody>
                  <a:tcPr anchor="ctr"/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部署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Docker + Gunicorn + WhiteNoise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容器化部署和静态资源服务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💡 技术选型理由：Django 内置 ORM + 认证 + 后台管理，适合快速开发管理型 Web 平台；配合 DRF 方便后续扩展移动端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B/S 架构：浏览器访问 → 路由分发 → 业务处理 → 数据持久化 + 外部能力集成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程序结构图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按 Django App 拆分业务模块，核心模块边界清晰、职责明确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功能模块结构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以「可信溯源 + 交易闭环 + 助农服务」为主线，覆盖 10+ 业务模块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51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数据库 E-R 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核心关系链：用户 → 农户档案 → 产品 → 批次 → 溯源事件 | 用户 → 订单 → 订单项 → 批次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09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主要数据表设计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围绕溯源、交易和助农扩展建立数据模型（55+ 用户 / 109 产品 / 378 批次数据）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288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5486400"/>
              </a:tblGrid>
              <a:tr h="3990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核心字段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core_farmerprofile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FarmerProfile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phone, address, farm_story, verified</a:t>
                      </a:r>
                    </a:p>
                  </a:txBody>
                  <a:tcPr anchor="ctr"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core_product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name, category, price, status, review_note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core_productbatch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ProductBatch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batch_code, harvest_date, quantity, qr_code, qc_report</a:t>
                      </a:r>
                    </a:p>
                  </a:txBody>
                  <a:tcPr anchor="ctr"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core_traceevent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TraceEvent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event_type, title, record_fingerprint（链式结构）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buyer, total_amount, payment_method, tracking_number</a:t>
                      </a:r>
                    </a:p>
                  </a:txBody>
                  <a:tcPr anchor="ctr"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core_orderitem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OrderItem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order, product_batch, quantity, price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core_supplydemandpost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SupplyDemandPost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post_type, product_name, category, status</a:t>
                      </a:r>
                    </a:p>
                  </a:txBody>
                  <a:tcPr anchor="ctr"/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core_demandresponse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DemandResponse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farmer, demand_post, product, message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order, buyer, product, rating, comment</a:t>
                      </a:r>
                    </a:p>
                  </a:txBody>
                  <a:tcPr anchor="ctr"/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core_notification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Notification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recipient, type, title, is_read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核心流程：产品批次溯源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每批产品生成独立批次编码和二维码，消费者扫码即可查看完整溯源信息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技术实现：ProductBatch.save() 自动生成 B-日期-随机串 批次码；qrcode 库生成二维码；TraceEvent 链式记录防篡改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核心流程：订单交易闭环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从购物车到评价反馈，OrderItem 绑定具体批次，保证交易记录可追溯来源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库存控制：购物车结算使用 select_for_update() 行级锁 + transaction.atomic() 防超卖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智能助农分析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订单与供需数据聚合后生成市场简报，大模型不可用时自动降级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09728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7F8C8D"/>
                </a:solidFill>
                <a:latin typeface="Microsoft YaHei"/>
              </a:defRPr>
            </a:pPr>
            <a:r>
              <a:t>降级策略：llm_service.py 中实现 Ollama 优先 + 规则引擎兜底，分析页面在离线状态下仍可正常访问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后台管理与权限控制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通过角色识别、装饰器权限和审核流程保证数据质量和系统安全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7472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4864" cy="2834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🔐 权限控制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Django 内置认证体系</a:t>
            </a:r>
            <a:br/>
            <a:r>
              <a:t>• 农户功能需 FarmerProfile + verified</a:t>
            </a:r>
            <a:br/>
            <a:r>
              <a:t>• 管理员功能需 staff 权限</a:t>
            </a:r>
            <a:br/>
            <a:r>
              <a:t>• DRF API 层保留权限控制</a:t>
            </a:r>
            <a:br/>
            <a:r>
              <a:t>• @farmer_required 装饰器拦截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7472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54864" cy="2834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✅ 审核流程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5603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产品审核（通过/拒绝+模态框填原因）</a:t>
            </a:r>
            <a:br/>
            <a:r>
              <a:t>• 批次质检审核（通过/拒绝）</a:t>
            </a:r>
            <a:br/>
            <a:r>
              <a:t>• 农户入驻审核（通过/拒绝）</a:t>
            </a:r>
            <a:br/>
            <a:r>
              <a:t>• 补贴申请审核</a:t>
            </a:r>
            <a:br/>
            <a:r>
              <a:t>• 已上架产品编辑需重新审核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2011680"/>
            <a:ext cx="347472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194560"/>
            <a:ext cx="54864" cy="2834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📊 运营能力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56032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用户管理（55+注册用户）</a:t>
            </a:r>
            <a:br/>
            <a:r>
              <a:t>• 订单与产品数据导出</a:t>
            </a:r>
            <a:br/>
            <a:r>
              <a:t>• 站内通知（订单/供需/审核）</a:t>
            </a:r>
            <a:br/>
            <a:r>
              <a:t>• 后台数据看板</a:t>
            </a:r>
            <a:br/>
            <a:r>
              <a:t>• 供需对接审核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围绕核心主流程、接口权限和页面可用性进行完整验证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8288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4114800"/>
                <a:gridCol w="18288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测试项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预期结果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用户登录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输入正确账号密码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登录成功并按角色跳转首页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产品审核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管理员点击通过/拒绝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产品状态变更 + 通知农户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批次溯源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输入有效批次码或扫码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展示产品/农户/质检/溯源事件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订单提交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填写收货信息 → 提交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生成订单 + 扣减库存 + 关联批次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供需响应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农户用产品响应需求帖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创建 DemandResponse + 通知买家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AI 分析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访问市场分析页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展示统计图表和 AI/规则简报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权限校验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未审核农户访问收款方式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拦截并提示审核中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✅ 通过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系统演示路线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答辩现场按一条闭环路线演示，控制在 2-3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00584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首页</a:t>
            </a:r>
            <a:br/>
            <a:r>
              <a:t>看板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743200"/>
            <a:ext cx="1005840" cy="822960"/>
          </a:xfrm>
          <a:prstGeom prst="roundRect">
            <a:avLst/>
          </a:prstGeom>
          <a:solidFill>
            <a:srgbClr val="2980B9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  <a:br/>
            <a:r>
              <a:t>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743200"/>
            <a:ext cx="100584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  <a:br/>
            <a:r>
              <a:t>详情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743200"/>
            <a:ext cx="1005840" cy="82296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下单</a:t>
            </a:r>
            <a:br/>
            <a:r>
              <a:t>支付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743200"/>
            <a:ext cx="100584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农户</a:t>
            </a:r>
            <a:br/>
            <a:r>
              <a:t>后台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4572000"/>
            <a:ext cx="1005840" cy="82296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批次管</a:t>
            </a:r>
            <a:br/>
            <a:r>
              <a:t>理+二维码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4572000"/>
            <a:ext cx="1005840" cy="82296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溯源</a:t>
            </a:r>
            <a:br/>
            <a:r>
              <a:t>查询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4572000"/>
            <a:ext cx="1005840" cy="82296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市场</a:t>
            </a:r>
            <a:br/>
            <a:r>
              <a:t>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005840" cy="82296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管理</a:t>
            </a:r>
            <a:br/>
            <a:r>
              <a:t>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7F8C8D"/>
                </a:solidFill>
                <a:latin typeface="Microsoft YaHei"/>
              </a:defRPr>
            </a:pPr>
            <a:r>
              <a:t>演示原则：先消费者视角 → 农户/管理员后台 → 溯源+分析体现系统特色 | 重点页面提前打开，减少现场等待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创新点与特色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从业务闭环、可信溯源和智能助农三个层面体现项目价值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728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4864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E67E22"/>
                </a:solidFill>
                <a:latin typeface="Microsoft YaHei"/>
              </a:defRPr>
            </a:pPr>
            <a:r>
              <a:t>交易 + 溯源深度结合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订单项关联具体产品批次，消费者购买后能追溯至源头；购物车结算实现行级锁库存控制。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109728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91840"/>
            <a:ext cx="54864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27AE60"/>
                </a:solidFill>
                <a:latin typeface="Microsoft YaHei"/>
              </a:defRPr>
            </a:pPr>
            <a:r>
              <a:t>低成本二维码溯源方案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批次码 + qrcode 自动生成，农户下载即用；TraceEvent 采用链式结构记录，具备防篡改设计基础。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9728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80560"/>
            <a:ext cx="54864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2980B9"/>
                </a:solidFill>
                <a:latin typeface="Microsoft YaHei"/>
              </a:defRPr>
            </a:pPr>
            <a:r>
              <a:t>本地大模型助农 + 降级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Ollama 生成市场简报和农技问答；模型不可用时规则引擎兜底，保证系统在任何环境下可用。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9728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669280"/>
            <a:ext cx="54864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20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农户主动供需交互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需求帖由农户主动用产品响应，形成买方-农户双向互动；全程站内通知，增强平台活跃度。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系统完成从需求分析、设计、实现到测试的完整闭环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20116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spcAft>
                <a:spcPts val="200"/>
              </a:spcAft>
              <a:defRPr sz="4200" b="1">
                <a:solidFill>
                  <a:srgbClr val="1B3A5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类核心角色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920240"/>
            <a:ext cx="20116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spcAft>
                <a:spcPts val="200"/>
              </a:spcAft>
              <a:defRPr sz="4200" b="1">
                <a:solidFill>
                  <a:srgbClr val="1B3A5C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个业务模块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920240"/>
            <a:ext cx="20116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spcAft>
                <a:spcPts val="200"/>
              </a:spcAft>
              <a:defRPr sz="4200" b="1">
                <a:solidFill>
                  <a:srgbClr val="1B3A5C"/>
                </a:solidFill>
                <a:latin typeface="Microsoft YaHei"/>
              </a:defRPr>
            </a:pPr>
            <a:r>
              <a:t>10+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个数据模型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920240"/>
            <a:ext cx="20116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spcAft>
                <a:spcPts val="200"/>
              </a:spcAft>
              <a:defRPr sz="4200" b="1">
                <a:solidFill>
                  <a:srgbClr val="1B3A5C"/>
                </a:solidFill>
                <a:latin typeface="Microsoft YaHei"/>
              </a:defRPr>
            </a:pPr>
            <a:r>
              <a:t>55+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注册用户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920240"/>
            <a:ext cx="20116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spcAft>
                <a:spcPts val="200"/>
              </a:spcAft>
              <a:defRPr sz="4200" b="1">
                <a:solidFill>
                  <a:srgbClr val="1B3A5C"/>
                </a:solidFill>
                <a:latin typeface="Microsoft YaHei"/>
              </a:defRPr>
            </a:pPr>
            <a:r>
              <a:t>378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条批次数据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10972800" cy="914400"/>
          </a:xfrm>
          <a:prstGeom prst="round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🔮 后续可扩展：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200"/>
              </a:spcAft>
              <a:defRPr sz="1300" b="0">
                <a:solidFill>
                  <a:srgbClr val="BDC3C7"/>
                </a:solidFill>
                <a:latin typeface="Microsoft YaHei"/>
              </a:defRPr>
            </a:pPr>
            <a:r>
              <a:t>微信小程序 · 真实在线支付 · 物联网数据采集 · 可信存证平台接入 · 个性化推荐与价格预测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303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50"/>
              </a:lnSpc>
              <a:spcAft>
                <a:spcPts val="200"/>
              </a:spcAft>
              <a:defRPr sz="3000" b="1">
                <a:solidFill>
                  <a:srgbClr val="E67E22"/>
                </a:solidFill>
                <a:latin typeface="Microsoft YaHei"/>
              </a:defRPr>
            </a:pPr>
            <a:r>
              <a:t>感谢各位老师，请批评指正！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1B3A5C"/>
                </a:solidFill>
                <a:latin typeface="Microsoft YaHei"/>
              </a:defRPr>
            </a:pPr>
            <a:r>
              <a:t>Q&amp;A 常见问题准备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答辩常见问题及回答要点，供准备时参考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8288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64240" cy="127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智农溯源 · 毕业设计答辩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150"/>
              </a:lnSpc>
              <a:spcAft>
                <a:spcPts val="20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Q1: 和普通电商平台有什么区别？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本系统不仅做交易，更强调「可信溯源」：批次二维码、链式结构记录、质检审核。同时加入农技知识、补贴申请、供需对接和 AI 市场分析，是面向农业场景的综合平台。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Q2: 溯源信息如何保证可信？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8036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每批次生成唯一编码和二维码，溯源事件采用链式结构记录机制，后一条记录包含前一条的指纹，具备防篡改设计基础，后续可接入可信存证平台。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Q3: 为什么选择 Django？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404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Django 内置 ORM、用户认证、后台管理和安全防护，适合快速开发管理型 Web 平台。配合 DRF 生成 RESTful API，方便后续扩展移动端或小程序。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Q4: 大模型不可用怎么办？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8006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llm_service.py 实现了降级设计：Ollama 优先调用，超时或连接失败时使用规则引擎生成摘要，保证分析页面在任何情况下都能正常展示。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1">
                <a:solidFill>
                  <a:srgbClr val="1B3A5C"/>
                </a:solidFill>
                <a:latin typeface="Microsoft YaHei"/>
              </a:defRPr>
            </a:pPr>
            <a:r>
              <a:t>Q5: 核心数据库关系？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7607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2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两条主线：① 用户→农户档案→产品→批次→溯源事件（支撑溯源）；② 用户→订单→订单项→批次（支撑交易）。订单项直接关联批次，保证可追溯。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